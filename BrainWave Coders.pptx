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Karnchang SemiCondensed Bold" charset="1" panose="00000000000000000000"/>
      <p:regular r:id="rId16"/>
    </p:embeddedFont>
    <p:embeddedFont>
      <p:font typeface="Karnchang SemiCondensed" charset="1" panose="00000000000000000000"/>
      <p:regular r:id="rId17"/>
    </p:embeddedFont>
    <p:embeddedFont>
      <p:font typeface="Inter" charset="1" panose="020B0502030000000004"/>
      <p:regular r:id="rId18"/>
    </p:embeddedFont>
    <p:embeddedFont>
      <p:font typeface="Karnchang SemiCondensed Semi-Bold" charset="1" panose="00000000000000000000"/>
      <p:regular r:id="rId19"/>
    </p:embeddedFont>
    <p:embeddedFont>
      <p:font typeface="Karnchang SemiCondensed Medium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pn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Relationship Id="rId9" Target="../media/image1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png" Type="http://schemas.openxmlformats.org/officeDocument/2006/relationships/image"/><Relationship Id="rId12" Target="../media/image43.png" Type="http://schemas.openxmlformats.org/officeDocument/2006/relationships/image"/><Relationship Id="rId13" Target="../media/image44.png" Type="http://schemas.openxmlformats.org/officeDocument/2006/relationships/image"/><Relationship Id="rId14" Target="../media/image45.png" Type="http://schemas.openxmlformats.org/officeDocument/2006/relationships/image"/><Relationship Id="rId15" Target="../media/image46.png" Type="http://schemas.openxmlformats.org/officeDocument/2006/relationships/image"/><Relationship Id="rId16" Target="../media/image47.png" Type="http://schemas.openxmlformats.org/officeDocument/2006/relationships/image"/><Relationship Id="rId17" Target="../media/image48.png" Type="http://schemas.openxmlformats.org/officeDocument/2006/relationships/image"/><Relationship Id="rId18" Target="../media/image49.png" Type="http://schemas.openxmlformats.org/officeDocument/2006/relationships/image"/><Relationship Id="rId2" Target="../media/image33.png" Type="http://schemas.openxmlformats.org/officeDocument/2006/relationships/image"/><Relationship Id="rId3" Target="../media/image34.png" Type="http://schemas.openxmlformats.org/officeDocument/2006/relationships/image"/><Relationship Id="rId4" Target="../media/image35.pn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Relationship Id="rId9" Target="../media/image4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8.png" Type="http://schemas.openxmlformats.org/officeDocument/2006/relationships/image"/><Relationship Id="rId11" Target="../media/image59.png" Type="http://schemas.openxmlformats.org/officeDocument/2006/relationships/image"/><Relationship Id="rId12" Target="../media/image60.png" Type="http://schemas.openxmlformats.org/officeDocument/2006/relationships/image"/><Relationship Id="rId13" Target="../media/image61.png" Type="http://schemas.openxmlformats.org/officeDocument/2006/relationships/image"/><Relationship Id="rId14" Target="../media/image62.png" Type="http://schemas.openxmlformats.org/officeDocument/2006/relationships/image"/><Relationship Id="rId15" Target="../media/image63.png" Type="http://schemas.openxmlformats.org/officeDocument/2006/relationships/image"/><Relationship Id="rId16" Target="../media/image64.png" Type="http://schemas.openxmlformats.org/officeDocument/2006/relationships/image"/><Relationship Id="rId17" Target="../media/image65.png" Type="http://schemas.openxmlformats.org/officeDocument/2006/relationships/image"/><Relationship Id="rId18" Target="../media/image66.png" Type="http://schemas.openxmlformats.org/officeDocument/2006/relationships/image"/><Relationship Id="rId19" Target="../media/image67.png" Type="http://schemas.openxmlformats.org/officeDocument/2006/relationships/image"/><Relationship Id="rId2" Target="../media/image50.png" Type="http://schemas.openxmlformats.org/officeDocument/2006/relationships/image"/><Relationship Id="rId20" Target="../media/image68.png" Type="http://schemas.openxmlformats.org/officeDocument/2006/relationships/image"/><Relationship Id="rId21" Target="../media/image69.png" Type="http://schemas.openxmlformats.org/officeDocument/2006/relationships/image"/><Relationship Id="rId22" Target="../media/image70.png" Type="http://schemas.openxmlformats.org/officeDocument/2006/relationships/image"/><Relationship Id="rId3" Target="../media/image51.png" Type="http://schemas.openxmlformats.org/officeDocument/2006/relationships/image"/><Relationship Id="rId4" Target="../media/image52.png" Type="http://schemas.openxmlformats.org/officeDocument/2006/relationships/image"/><Relationship Id="rId5" Target="../media/image53.png" Type="http://schemas.openxmlformats.org/officeDocument/2006/relationships/image"/><Relationship Id="rId6" Target="../media/image54.png" Type="http://schemas.openxmlformats.org/officeDocument/2006/relationships/image"/><Relationship Id="rId7" Target="../media/image55.png" Type="http://schemas.openxmlformats.org/officeDocument/2006/relationships/image"/><Relationship Id="rId8" Target="../media/image56.png" Type="http://schemas.openxmlformats.org/officeDocument/2006/relationships/image"/><Relationship Id="rId9" Target="../media/image5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9.png" Type="http://schemas.openxmlformats.org/officeDocument/2006/relationships/image"/><Relationship Id="rId11" Target="../media/image80.png" Type="http://schemas.openxmlformats.org/officeDocument/2006/relationships/image"/><Relationship Id="rId12" Target="../media/image81.png" Type="http://schemas.openxmlformats.org/officeDocument/2006/relationships/image"/><Relationship Id="rId13" Target="../media/image82.png" Type="http://schemas.openxmlformats.org/officeDocument/2006/relationships/image"/><Relationship Id="rId14" Target="../media/image83.png" Type="http://schemas.openxmlformats.org/officeDocument/2006/relationships/image"/><Relationship Id="rId15" Target="../media/image84.png" Type="http://schemas.openxmlformats.org/officeDocument/2006/relationships/image"/><Relationship Id="rId2" Target="../media/image71.png" Type="http://schemas.openxmlformats.org/officeDocument/2006/relationships/image"/><Relationship Id="rId3" Target="../media/image72.png" Type="http://schemas.openxmlformats.org/officeDocument/2006/relationships/image"/><Relationship Id="rId4" Target="../media/image73.png" Type="http://schemas.openxmlformats.org/officeDocument/2006/relationships/image"/><Relationship Id="rId5" Target="../media/image74.png" Type="http://schemas.openxmlformats.org/officeDocument/2006/relationships/image"/><Relationship Id="rId6" Target="../media/image75.png" Type="http://schemas.openxmlformats.org/officeDocument/2006/relationships/image"/><Relationship Id="rId7" Target="../media/image76.png" Type="http://schemas.openxmlformats.org/officeDocument/2006/relationships/image"/><Relationship Id="rId8" Target="../media/image77.png" Type="http://schemas.openxmlformats.org/officeDocument/2006/relationships/image"/><Relationship Id="rId9" Target="../media/image7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png" Type="http://schemas.openxmlformats.org/officeDocument/2006/relationships/image"/><Relationship Id="rId12" Target="../media/image95.png" Type="http://schemas.openxmlformats.org/officeDocument/2006/relationships/image"/><Relationship Id="rId13" Target="../media/image96.png" Type="http://schemas.openxmlformats.org/officeDocument/2006/relationships/image"/><Relationship Id="rId14" Target="../media/image97.png" Type="http://schemas.openxmlformats.org/officeDocument/2006/relationships/image"/><Relationship Id="rId15" Target="../media/image98.png" Type="http://schemas.openxmlformats.org/officeDocument/2006/relationships/image"/><Relationship Id="rId16" Target="../media/image99.png" Type="http://schemas.openxmlformats.org/officeDocument/2006/relationships/image"/><Relationship Id="rId2" Target="../media/image85.png" Type="http://schemas.openxmlformats.org/officeDocument/2006/relationships/image"/><Relationship Id="rId3" Target="../media/image86.pn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png" Type="http://schemas.openxmlformats.org/officeDocument/2006/relationships/image"/><Relationship Id="rId7" Target="../media/image90.png" Type="http://schemas.openxmlformats.org/officeDocument/2006/relationships/image"/><Relationship Id="rId8" Target="../media/image91.png" Type="http://schemas.openxmlformats.org/officeDocument/2006/relationships/image"/><Relationship Id="rId9" Target="../media/image9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8.png" Type="http://schemas.openxmlformats.org/officeDocument/2006/relationships/image"/><Relationship Id="rId11" Target="../media/image109.png" Type="http://schemas.openxmlformats.org/officeDocument/2006/relationships/image"/><Relationship Id="rId12" Target="../media/image110.png" Type="http://schemas.openxmlformats.org/officeDocument/2006/relationships/image"/><Relationship Id="rId13" Target="../media/image111.png" Type="http://schemas.openxmlformats.org/officeDocument/2006/relationships/image"/><Relationship Id="rId14" Target="../media/image112.png" Type="http://schemas.openxmlformats.org/officeDocument/2006/relationships/image"/><Relationship Id="rId15" Target="../media/image113.png" Type="http://schemas.openxmlformats.org/officeDocument/2006/relationships/image"/><Relationship Id="rId16" Target="../media/image114.png" Type="http://schemas.openxmlformats.org/officeDocument/2006/relationships/image"/><Relationship Id="rId17" Target="../media/image115.png" Type="http://schemas.openxmlformats.org/officeDocument/2006/relationships/image"/><Relationship Id="rId18" Target="../media/image116.png" Type="http://schemas.openxmlformats.org/officeDocument/2006/relationships/image"/><Relationship Id="rId19" Target="../media/image117.png" Type="http://schemas.openxmlformats.org/officeDocument/2006/relationships/image"/><Relationship Id="rId2" Target="../media/image100.png" Type="http://schemas.openxmlformats.org/officeDocument/2006/relationships/image"/><Relationship Id="rId20" Target="../media/image118.png" Type="http://schemas.openxmlformats.org/officeDocument/2006/relationships/image"/><Relationship Id="rId21" Target="../media/image119.png" Type="http://schemas.openxmlformats.org/officeDocument/2006/relationships/image"/><Relationship Id="rId22" Target="../media/image120.png" Type="http://schemas.openxmlformats.org/officeDocument/2006/relationships/image"/><Relationship Id="rId23" Target="../media/image121.png" Type="http://schemas.openxmlformats.org/officeDocument/2006/relationships/image"/><Relationship Id="rId24" Target="../media/image122.png" Type="http://schemas.openxmlformats.org/officeDocument/2006/relationships/image"/><Relationship Id="rId25" Target="../media/image123.png" Type="http://schemas.openxmlformats.org/officeDocument/2006/relationships/image"/><Relationship Id="rId26" Target="../media/image124.png" Type="http://schemas.openxmlformats.org/officeDocument/2006/relationships/image"/><Relationship Id="rId3" Target="../media/image101.pn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png" Type="http://schemas.openxmlformats.org/officeDocument/2006/relationships/image"/><Relationship Id="rId7" Target="../media/image105.png" Type="http://schemas.openxmlformats.org/officeDocument/2006/relationships/image"/><Relationship Id="rId8" Target="../media/image106.png" Type="http://schemas.openxmlformats.org/officeDocument/2006/relationships/image"/><Relationship Id="rId9" Target="../media/image10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3.png" Type="http://schemas.openxmlformats.org/officeDocument/2006/relationships/image"/><Relationship Id="rId11" Target="../media/image134.png" Type="http://schemas.openxmlformats.org/officeDocument/2006/relationships/image"/><Relationship Id="rId12" Target="../media/image135.png" Type="http://schemas.openxmlformats.org/officeDocument/2006/relationships/image"/><Relationship Id="rId13" Target="../media/image136.png" Type="http://schemas.openxmlformats.org/officeDocument/2006/relationships/image"/><Relationship Id="rId14" Target="../media/image137.png" Type="http://schemas.openxmlformats.org/officeDocument/2006/relationships/image"/><Relationship Id="rId15" Target="../media/image138.png" Type="http://schemas.openxmlformats.org/officeDocument/2006/relationships/image"/><Relationship Id="rId16" Target="../media/image139.png" Type="http://schemas.openxmlformats.org/officeDocument/2006/relationships/image"/><Relationship Id="rId2" Target="../media/image125.png" Type="http://schemas.openxmlformats.org/officeDocument/2006/relationships/image"/><Relationship Id="rId3" Target="../media/image126.png" Type="http://schemas.openxmlformats.org/officeDocument/2006/relationships/image"/><Relationship Id="rId4" Target="../media/image127.png" Type="http://schemas.openxmlformats.org/officeDocument/2006/relationships/image"/><Relationship Id="rId5" Target="../media/image128.png" Type="http://schemas.openxmlformats.org/officeDocument/2006/relationships/image"/><Relationship Id="rId6" Target="../media/image129.png" Type="http://schemas.openxmlformats.org/officeDocument/2006/relationships/image"/><Relationship Id="rId7" Target="../media/image130.png" Type="http://schemas.openxmlformats.org/officeDocument/2006/relationships/image"/><Relationship Id="rId8" Target="../media/image131.png" Type="http://schemas.openxmlformats.org/officeDocument/2006/relationships/image"/><Relationship Id="rId9" Target="../media/image13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0.png" Type="http://schemas.openxmlformats.org/officeDocument/2006/relationships/image"/><Relationship Id="rId3" Target="../media/image141.png" Type="http://schemas.openxmlformats.org/officeDocument/2006/relationships/image"/><Relationship Id="rId4" Target="../media/image14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28440" y="852695"/>
            <a:ext cx="5895474" cy="7728915"/>
          </a:xfrm>
          <a:custGeom>
            <a:avLst/>
            <a:gdLst/>
            <a:ahLst/>
            <a:cxnLst/>
            <a:rect r="r" b="b" t="t" l="l"/>
            <a:pathLst>
              <a:path h="7728915" w="5895474">
                <a:moveTo>
                  <a:pt x="0" y="0"/>
                </a:moveTo>
                <a:lnTo>
                  <a:pt x="5895474" y="0"/>
                </a:lnTo>
                <a:lnTo>
                  <a:pt x="5895474" y="7728915"/>
                </a:lnTo>
                <a:lnTo>
                  <a:pt x="0" y="77289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3420" y="-80766"/>
            <a:ext cx="8061919" cy="3674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27"/>
              </a:lnSpc>
            </a:pPr>
            <a:r>
              <a:rPr lang="en-US" sz="11927" b="true">
                <a:solidFill>
                  <a:srgbClr val="FFFFFF">
                    <a:alpha val="89804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BRAINWAVE CODERS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789444" y="3622390"/>
            <a:ext cx="9459552" cy="2242121"/>
            <a:chOff x="0" y="0"/>
            <a:chExt cx="12612736" cy="298949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71475"/>
              <a:ext cx="12612736" cy="14906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850"/>
                </a:lnSpc>
              </a:pPr>
              <a:r>
                <a:rPr lang="en-US" sz="5607" b="true">
                  <a:solidFill>
                    <a:srgbClr val="0CC0DF"/>
                  </a:solidFill>
                  <a:latin typeface="Karnchang SemiCondensed Bold"/>
                  <a:ea typeface="Karnchang SemiCondensed Bold"/>
                  <a:cs typeface="Karnchang SemiCondensed Bold"/>
                  <a:sym typeface="Karnchang SemiCondensed Bold"/>
                </a:rPr>
                <a:t>Intelligent LLM Security Firewall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77523" y="1456971"/>
              <a:ext cx="12004199" cy="15325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43"/>
                </a:lnSpc>
                <a:spcBef>
                  <a:spcPct val="0"/>
                </a:spcBef>
              </a:pPr>
              <a:r>
                <a:rPr lang="en-US" sz="3102" strike="noStrike" u="none">
                  <a:solidFill>
                    <a:srgbClr val="FFFFFF">
                      <a:alpha val="80000"/>
                    </a:srgbClr>
                  </a:solidFill>
                  <a:latin typeface="Karnchang SemiCondensed"/>
                  <a:ea typeface="Karnchang SemiCondensed"/>
                  <a:cs typeface="Karnchang SemiCondensed"/>
                  <a:sym typeface="Karnchang SemiCondensed"/>
                </a:rPr>
                <a:t>Real-world protection for AI chatbots, company documents, customer data, and high-risk answers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4086" y="8664997"/>
            <a:ext cx="7853340" cy="1300906"/>
            <a:chOff x="0" y="0"/>
            <a:chExt cx="10471120" cy="173454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93933" cy="1734542"/>
            </a:xfrm>
            <a:custGeom>
              <a:avLst/>
              <a:gdLst/>
              <a:ahLst/>
              <a:cxnLst/>
              <a:rect r="r" b="b" t="t" l="l"/>
              <a:pathLst>
                <a:path h="1734542" w="6693933">
                  <a:moveTo>
                    <a:pt x="0" y="0"/>
                  </a:moveTo>
                  <a:lnTo>
                    <a:pt x="6693933" y="0"/>
                  </a:lnTo>
                  <a:lnTo>
                    <a:pt x="6693933" y="1734542"/>
                  </a:lnTo>
                  <a:lnTo>
                    <a:pt x="0" y="1734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545740" y="230590"/>
              <a:ext cx="5577555" cy="1110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38"/>
                </a:lnSpc>
              </a:pPr>
              <a:r>
                <a:rPr lang="en-US" b="true" sz="4170">
                  <a:solidFill>
                    <a:srgbClr val="0CC0DF"/>
                  </a:solidFill>
                  <a:latin typeface="Karnchang SemiCondensed Bold"/>
                  <a:ea typeface="Karnchang SemiCondensed Bold"/>
                  <a:cs typeface="Karnchang SemiCondensed Bold"/>
                  <a:sym typeface="Karnchang SemiCondensed Bold"/>
                </a:rPr>
                <a:t>HACKATOPIA 2K26</a:t>
              </a:r>
            </a:p>
          </p:txBody>
        </p:sp>
        <p:sp>
          <p:nvSpPr>
            <p:cNvPr name="Freeform 11" id="11"/>
            <p:cNvSpPr/>
            <p:nvPr/>
          </p:nvSpPr>
          <p:spPr>
            <a:xfrm flipH="false" flipV="false" rot="0">
              <a:off x="6387675" y="583039"/>
              <a:ext cx="4083445" cy="583039"/>
            </a:xfrm>
            <a:custGeom>
              <a:avLst/>
              <a:gdLst/>
              <a:ahLst/>
              <a:cxnLst/>
              <a:rect r="r" b="b" t="t" l="l"/>
              <a:pathLst>
                <a:path h="583039" w="4083445">
                  <a:moveTo>
                    <a:pt x="0" y="0"/>
                  </a:moveTo>
                  <a:lnTo>
                    <a:pt x="4083445" y="0"/>
                  </a:lnTo>
                  <a:lnTo>
                    <a:pt x="4083445" y="583040"/>
                  </a:lnTo>
                  <a:lnTo>
                    <a:pt x="0" y="583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21236" y="6454912"/>
            <a:ext cx="4366617" cy="1736173"/>
            <a:chOff x="0" y="0"/>
            <a:chExt cx="5822156" cy="231489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887952"/>
              <a:ext cx="5822156" cy="426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7"/>
                </a:lnSpc>
              </a:pPr>
              <a:r>
                <a:rPr lang="en-US" sz="2387" spc="-118">
                  <a:solidFill>
                    <a:srgbClr val="F8F8F8"/>
                  </a:solidFill>
                  <a:latin typeface="Inter"/>
                  <a:ea typeface="Inter"/>
                  <a:cs typeface="Inter"/>
                  <a:sym typeface="Inter"/>
                </a:rPr>
                <a:t>ANIMESH </a:t>
              </a:r>
              <a:r>
                <a:rPr lang="en-US" sz="2387" spc="-118">
                  <a:solidFill>
                    <a:srgbClr val="0CC0F1"/>
                  </a:solidFill>
                  <a:latin typeface="Inter"/>
                  <a:ea typeface="Inter"/>
                  <a:cs typeface="Inter"/>
                  <a:sym typeface="Inter"/>
                </a:rPr>
                <a:t>MANDAL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1285519"/>
              <a:ext cx="5822156" cy="426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7"/>
                </a:lnSpc>
              </a:pPr>
              <a:r>
                <a:rPr lang="en-US" sz="2387" spc="-118">
                  <a:solidFill>
                    <a:srgbClr val="F8F8F8"/>
                  </a:solidFill>
                  <a:latin typeface="Inter"/>
                  <a:ea typeface="Inter"/>
                  <a:cs typeface="Inter"/>
                  <a:sym typeface="Inter"/>
                </a:rPr>
                <a:t>SUSANTA </a:t>
              </a:r>
              <a:r>
                <a:rPr lang="en-US" sz="2387" spc="-118">
                  <a:solidFill>
                    <a:srgbClr val="0CC0F1"/>
                  </a:solidFill>
                  <a:latin typeface="Inter"/>
                  <a:ea typeface="Inter"/>
                  <a:cs typeface="Inter"/>
                  <a:sym typeface="Inter"/>
                </a:rPr>
                <a:t>KUMAR PADHI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663004"/>
              <a:ext cx="5822156" cy="426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7"/>
                </a:lnSpc>
              </a:pPr>
              <a:r>
                <a:rPr lang="en-US" sz="2387" spc="-118">
                  <a:solidFill>
                    <a:srgbClr val="F8F8F8"/>
                  </a:solidFill>
                  <a:latin typeface="Inter"/>
                  <a:ea typeface="Inter"/>
                  <a:cs typeface="Inter"/>
                  <a:sym typeface="Inter"/>
                </a:rPr>
                <a:t>V.</a:t>
              </a:r>
              <a:r>
                <a:rPr lang="en-US" sz="2387" spc="-118">
                  <a:solidFill>
                    <a:srgbClr val="0CC0F1"/>
                  </a:solidFill>
                  <a:latin typeface="Inter"/>
                  <a:ea typeface="Inter"/>
                  <a:cs typeface="Inter"/>
                  <a:sym typeface="Inter"/>
                </a:rPr>
                <a:t>KEERTAN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7625"/>
              <a:ext cx="5822156" cy="426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7"/>
                </a:lnSpc>
              </a:pPr>
              <a:r>
                <a:rPr lang="en-US" sz="2387" spc="-118">
                  <a:solidFill>
                    <a:srgbClr val="F8F8F8"/>
                  </a:solidFill>
                  <a:latin typeface="Inter"/>
                  <a:ea typeface="Inter"/>
                  <a:cs typeface="Inter"/>
                  <a:sym typeface="Inter"/>
                </a:rPr>
                <a:t>SAHIL KUMAR </a:t>
              </a:r>
              <a:r>
                <a:rPr lang="en-US" sz="2387" spc="-118">
                  <a:solidFill>
                    <a:srgbClr val="0CC0F1"/>
                  </a:solidFill>
                  <a:latin typeface="Inter"/>
                  <a:ea typeface="Inter"/>
                  <a:cs typeface="Inter"/>
                  <a:sym typeface="Inter"/>
                </a:rPr>
                <a:t>PATTNAIK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8758" y="614668"/>
            <a:ext cx="4739041" cy="2012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94"/>
              </a:lnSpc>
            </a:pPr>
            <a:r>
              <a:rPr lang="en-US" b="true" sz="6800" spc="136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PROBLEM STATEMENT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6358" y="2625516"/>
            <a:ext cx="3979065" cy="13649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pc="55" strike="noStrike" u="none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AI assistants are being used with real customer and company data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0828" y="3974453"/>
            <a:ext cx="3214688" cy="747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2188" spc="43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 support bot may reveal another customer’s details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0828" y="4832921"/>
            <a:ext cx="3214688" cy="106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2188" spc="43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 hidden instruction in a PDF can hijack an AI summary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0828" y="5721511"/>
            <a:ext cx="3214688" cy="106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2188" spc="43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An employee may be tricked into exposing internal prompts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0828" y="6610101"/>
            <a:ext cx="3214688" cy="106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2188" spc="43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Private IDs, emails, or account details may appear in replies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0828" y="7483629"/>
            <a:ext cx="3214688" cy="106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2188" spc="43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An AI assistant may give unsafe or unverified guidance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0828" y="8357158"/>
            <a:ext cx="3214688" cy="10686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6"/>
              </a:lnSpc>
              <a:spcBef>
                <a:spcPct val="0"/>
              </a:spcBef>
            </a:pPr>
            <a:r>
              <a:rPr lang="en-US" sz="2188" spc="43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Basic keyword filters can miss hidden or rewritten attacks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7175196" y="426348"/>
            <a:ext cx="3718852" cy="1508614"/>
          </a:xfrm>
          <a:custGeom>
            <a:avLst/>
            <a:gdLst/>
            <a:ahLst/>
            <a:cxnLst/>
            <a:rect r="r" b="b" t="t" l="l"/>
            <a:pathLst>
              <a:path h="1508614" w="3718852">
                <a:moveTo>
                  <a:pt x="0" y="0"/>
                </a:moveTo>
                <a:lnTo>
                  <a:pt x="3718852" y="0"/>
                </a:lnTo>
                <a:lnTo>
                  <a:pt x="3718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544439" y="617525"/>
            <a:ext cx="1960138" cy="1268405"/>
            <a:chOff x="0" y="0"/>
            <a:chExt cx="2613517" cy="1691207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4939" y="-66675"/>
              <a:ext cx="2119640" cy="68210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6"/>
                </a:lnSpc>
              </a:pPr>
              <a:r>
                <a:rPr lang="en-US" b="true" sz="1740" spc="34">
                  <a:solidFill>
                    <a:srgbClr val="20B2C9"/>
                  </a:solidFill>
                  <a:latin typeface="Karnchang SemiCondensed Semi-Bold"/>
                  <a:ea typeface="Karnchang SemiCondensed Semi-Bold"/>
                  <a:cs typeface="Karnchang SemiCondensed Semi-Bold"/>
                  <a:sym typeface="Karnchang SemiCondensed Semi-Bold"/>
                </a:rPr>
                <a:t>DIRECT PROMPT</a:t>
              </a:r>
            </a:p>
            <a:p>
              <a:pPr algn="l">
                <a:lnSpc>
                  <a:spcPts val="1826"/>
                </a:lnSpc>
              </a:pPr>
              <a:r>
                <a:rPr lang="en-US" b="true" sz="1740" spc="34">
                  <a:solidFill>
                    <a:srgbClr val="20B2C9"/>
                  </a:solidFill>
                  <a:latin typeface="Karnchang SemiCondensed Semi-Bold"/>
                  <a:ea typeface="Karnchang SemiCondensed Semi-Bold"/>
                  <a:cs typeface="Karnchang SemiCondensed Semi-Bold"/>
                  <a:sym typeface="Karnchang SemiCondensed Semi-Bold"/>
                </a:rPr>
                <a:t>INJECTION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686867"/>
              <a:ext cx="2613517" cy="1004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40"/>
                </a:lnSpc>
                <a:spcBef>
                  <a:spcPct val="0"/>
                </a:spcBef>
              </a:pPr>
              <a:r>
                <a:rPr lang="en-US" sz="1617" spc="32" strike="noStrike" u="none">
                  <a:solidFill>
                    <a:srgbClr val="FFFFFF">
                      <a:alpha val="84706"/>
                    </a:srgbClr>
                  </a:solidFill>
                  <a:latin typeface="Karnchang SemiCondensed"/>
                  <a:ea typeface="Karnchang SemiCondensed"/>
                  <a:cs typeface="Karnchang SemiCondensed"/>
                  <a:sym typeface="Karnchang SemiCondensed"/>
                </a:rPr>
                <a:t>A user tries to override rules or extract protected information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7175196" y="1924030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525859" y="2365554"/>
            <a:ext cx="2865618" cy="1027583"/>
            <a:chOff x="0" y="0"/>
            <a:chExt cx="3820825" cy="1370111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-66675"/>
              <a:ext cx="3820825" cy="39651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26"/>
                </a:lnSpc>
              </a:pPr>
              <a:r>
                <a:rPr lang="en-US" b="true" sz="1740" spc="34">
                  <a:solidFill>
                    <a:srgbClr val="20B2C9"/>
                  </a:solidFill>
                  <a:latin typeface="Karnchang SemiCondensed Semi-Bold"/>
                  <a:ea typeface="Karnchang SemiCondensed Semi-Bold"/>
                  <a:cs typeface="Karnchang SemiCondensed Semi-Bold"/>
                  <a:sym typeface="Karnchang SemiCondensed Semi-Bold"/>
                </a:rPr>
                <a:t>INDIRECT PROMPT INJECTION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0631" y="365772"/>
              <a:ext cx="2757727" cy="1004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40"/>
                </a:lnSpc>
                <a:spcBef>
                  <a:spcPct val="0"/>
                </a:spcBef>
              </a:pPr>
              <a:r>
                <a:rPr lang="en-US" sz="1617" spc="32" strike="noStrike" u="none">
                  <a:solidFill>
                    <a:srgbClr val="FFFFFF">
                      <a:alpha val="84706"/>
                    </a:srgbClr>
                  </a:solidFill>
                  <a:latin typeface="Karnchang SemiCondensed"/>
                  <a:ea typeface="Karnchang SemiCondensed"/>
                  <a:cs typeface="Karnchang SemiCondensed"/>
                  <a:sym typeface="Karnchang SemiCondensed"/>
                </a:rPr>
                <a:t>A vendor PDF or webpage contains hidden instructions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175196" y="3421712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37280" y="3776584"/>
            <a:ext cx="1723518" cy="52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b="true" sz="1740" spc="34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SYSTEM-PROMPT</a:t>
            </a:r>
          </a:p>
          <a:p>
            <a:pPr algn="l">
              <a:lnSpc>
                <a:spcPts val="1826"/>
              </a:lnSpc>
            </a:pPr>
            <a:r>
              <a:rPr lang="en-US" b="true" sz="1740" spc="34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EXTRACTION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31750" y="4339359"/>
            <a:ext cx="2276565" cy="54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0"/>
              </a:lnSpc>
              <a:spcBef>
                <a:spcPct val="0"/>
              </a:spcBef>
            </a:pPr>
            <a:r>
              <a:rPr lang="en-US" sz="1617" spc="32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 prompt asks the model to reveal private system rules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7175196" y="5138034"/>
            <a:ext cx="3718852" cy="1508614"/>
          </a:xfrm>
          <a:custGeom>
            <a:avLst/>
            <a:gdLst/>
            <a:ahLst/>
            <a:cxnLst/>
            <a:rect r="r" b="b" t="t" l="l"/>
            <a:pathLst>
              <a:path h="1508614" w="3718852">
                <a:moveTo>
                  <a:pt x="0" y="0"/>
                </a:moveTo>
                <a:lnTo>
                  <a:pt x="3718852" y="0"/>
                </a:lnTo>
                <a:lnTo>
                  <a:pt x="3718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7538458" y="5357972"/>
            <a:ext cx="1605754" cy="52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b="true" sz="1740" spc="34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SENSITIVE DATA</a:t>
            </a:r>
          </a:p>
          <a:p>
            <a:pPr algn="l">
              <a:lnSpc>
                <a:spcPts val="1826"/>
              </a:lnSpc>
            </a:pPr>
            <a:r>
              <a:rPr lang="en-US" b="true" sz="1740" spc="34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LEAKAGE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533784" y="5825335"/>
            <a:ext cx="2073194" cy="77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0"/>
              </a:lnSpc>
              <a:spcBef>
                <a:spcPct val="0"/>
              </a:spcBef>
            </a:pPr>
            <a:r>
              <a:rPr lang="en-US" sz="1617" spc="32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Customer records, credentials, or personal data exposed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7175196" y="6635716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531741" y="6924299"/>
            <a:ext cx="2277427" cy="52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26"/>
              </a:lnSpc>
            </a:pPr>
            <a:r>
              <a:rPr lang="en-US" b="true" sz="1740" spc="34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MALICIOUS OR UNSAFE</a:t>
            </a:r>
          </a:p>
          <a:p>
            <a:pPr algn="l">
              <a:lnSpc>
                <a:spcPts val="1826"/>
              </a:lnSpc>
            </a:pPr>
            <a:r>
              <a:rPr lang="en-US" b="true" sz="1740" spc="34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OUTPUT GENERATION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532753" y="7413618"/>
            <a:ext cx="2176270" cy="772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940"/>
              </a:lnSpc>
              <a:spcBef>
                <a:spcPct val="0"/>
              </a:spcBef>
            </a:pPr>
            <a:r>
              <a:rPr lang="en-US" sz="1617" spc="32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Responses may need filtering or human review before delivery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7175196" y="8133399"/>
            <a:ext cx="3718852" cy="1945894"/>
          </a:xfrm>
          <a:custGeom>
            <a:avLst/>
            <a:gdLst/>
            <a:ahLst/>
            <a:cxnLst/>
            <a:rect r="r" b="b" t="t" l="l"/>
            <a:pathLst>
              <a:path h="1945894" w="3718852">
                <a:moveTo>
                  <a:pt x="0" y="0"/>
                </a:moveTo>
                <a:lnTo>
                  <a:pt x="3718852" y="0"/>
                </a:lnTo>
                <a:lnTo>
                  <a:pt x="3718852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7533225" y="8468558"/>
            <a:ext cx="2129079" cy="1494214"/>
            <a:chOff x="0" y="0"/>
            <a:chExt cx="2838772" cy="1992285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32" y="-66675"/>
              <a:ext cx="2835554" cy="104223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956"/>
                </a:lnSpc>
              </a:pPr>
              <a:r>
                <a:rPr lang="en-US" b="true" sz="1863" spc="37">
                  <a:solidFill>
                    <a:srgbClr val="20B2C9"/>
                  </a:solidFill>
                  <a:latin typeface="Karnchang SemiCondensed Semi-Bold"/>
                  <a:ea typeface="Karnchang SemiCondensed Semi-Bold"/>
                  <a:cs typeface="Karnchang SemiCondensed Semi-Bold"/>
                  <a:sym typeface="Karnchang SemiCondensed Semi-Bold"/>
                </a:rPr>
                <a:t>LIMITATIONS OF</a:t>
              </a:r>
            </a:p>
            <a:p>
              <a:pPr algn="l">
                <a:lnSpc>
                  <a:spcPts val="1956"/>
                </a:lnSpc>
              </a:pPr>
              <a:r>
                <a:rPr lang="en-US" b="true" sz="1863" spc="37">
                  <a:solidFill>
                    <a:srgbClr val="20B2C9"/>
                  </a:solidFill>
                  <a:latin typeface="Karnchang SemiCondensed Semi-Bold"/>
                  <a:ea typeface="Karnchang SemiCondensed Semi-Bold"/>
                  <a:cs typeface="Karnchang SemiCondensed Semi-Bold"/>
                  <a:sym typeface="Karnchang SemiCondensed Semi-Bold"/>
                </a:rPr>
                <a:t>SINGLE-GUARDRAIL DEFENSES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987946"/>
              <a:ext cx="2838772" cy="1004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40"/>
                </a:lnSpc>
                <a:spcBef>
                  <a:spcPct val="0"/>
                </a:spcBef>
              </a:pPr>
              <a:r>
                <a:rPr lang="en-US" sz="1617" spc="32" strike="noStrike" u="none">
                  <a:solidFill>
                    <a:srgbClr val="FFFFFF">
                      <a:alpha val="84706"/>
                    </a:srgbClr>
                  </a:solidFill>
                  <a:latin typeface="Karnchang SemiCondensed"/>
                  <a:ea typeface="Karnchang SemiCondensed"/>
                  <a:cs typeface="Karnchang SemiCondensed"/>
                  <a:sym typeface="Karnchang SemiCondensed"/>
                </a:rPr>
                <a:t>Use multiple checks: input, context, policy, and output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664354" y="1071335"/>
            <a:ext cx="2187560" cy="8144330"/>
          </a:xfrm>
          <a:custGeom>
            <a:avLst/>
            <a:gdLst/>
            <a:ahLst/>
            <a:cxnLst/>
            <a:rect r="r" b="b" t="t" l="l"/>
            <a:pathLst>
              <a:path h="8144330" w="2187560">
                <a:moveTo>
                  <a:pt x="0" y="0"/>
                </a:moveTo>
                <a:lnTo>
                  <a:pt x="2187560" y="0"/>
                </a:lnTo>
                <a:lnTo>
                  <a:pt x="2187560" y="8144330"/>
                </a:lnTo>
                <a:lnTo>
                  <a:pt x="0" y="814433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622220" y="4919394"/>
            <a:ext cx="1093780" cy="448211"/>
          </a:xfrm>
          <a:custGeom>
            <a:avLst/>
            <a:gdLst/>
            <a:ahLst/>
            <a:cxnLst/>
            <a:rect r="r" b="b" t="t" l="l"/>
            <a:pathLst>
              <a:path h="448211" w="1093780">
                <a:moveTo>
                  <a:pt x="0" y="0"/>
                </a:moveTo>
                <a:lnTo>
                  <a:pt x="1093780" y="0"/>
                </a:lnTo>
                <a:lnTo>
                  <a:pt x="1093780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3716000" y="2776725"/>
            <a:ext cx="3489158" cy="4733550"/>
          </a:xfrm>
          <a:custGeom>
            <a:avLst/>
            <a:gdLst/>
            <a:ahLst/>
            <a:cxnLst/>
            <a:rect r="r" b="b" t="t" l="l"/>
            <a:pathLst>
              <a:path h="4733550" w="3489158">
                <a:moveTo>
                  <a:pt x="0" y="0"/>
                </a:moveTo>
                <a:lnTo>
                  <a:pt x="3489158" y="0"/>
                </a:lnTo>
                <a:lnTo>
                  <a:pt x="3489158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14455165" y="3994928"/>
            <a:ext cx="1920131" cy="1024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9"/>
              </a:lnSpc>
            </a:pPr>
            <a:r>
              <a:rPr lang="en-US" b="true" sz="3304" spc="66">
                <a:solidFill>
                  <a:srgbClr val="20B2C9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MULTIPLE THREATS.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365883" y="5324379"/>
            <a:ext cx="2098696" cy="8140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4"/>
              </a:lnSpc>
            </a:pPr>
            <a:r>
              <a:rPr lang="en-US" b="true" sz="2623" spc="52">
                <a:solidFill>
                  <a:srgbClr val="FFFFFF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REAL RISKS.</a:t>
            </a:r>
          </a:p>
          <a:p>
            <a:pPr algn="ctr">
              <a:lnSpc>
                <a:spcPts val="2754"/>
              </a:lnSpc>
            </a:pPr>
            <a:r>
              <a:rPr lang="en-US" b="true" sz="2623" spc="52">
                <a:solidFill>
                  <a:srgbClr val="FFFFFF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REAL IMPACT.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0241" y="255105"/>
            <a:ext cx="7911874" cy="12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sz="6845" b="true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THREAT LANDSCAPE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9800" y="1388048"/>
            <a:ext cx="5955961" cy="78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3"/>
              </a:lnSpc>
              <a:spcBef>
                <a:spcPct val="0"/>
              </a:spcBef>
            </a:pPr>
            <a:r>
              <a:rPr lang="en-US" b="true" sz="2623" spc="52" strike="noStrike" u="none">
                <a:solidFill>
                  <a:srgbClr val="16C2DB"/>
                </a:solidFill>
                <a:latin typeface="Karnchang SemiCondensed Medium"/>
                <a:ea typeface="Karnchang SemiCondensed Medium"/>
                <a:cs typeface="Karnchang SemiCondensed Medium"/>
                <a:sym typeface="Karnchang SemiCondensed Medium"/>
              </a:rPr>
              <a:t>Everyday AI use can turn untrusted content into business risk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2877" y="2472317"/>
            <a:ext cx="2199689" cy="42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47">
                <a:solidFill>
                  <a:srgbClr val="16C2DB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INPUT SOURCES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2995365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05324" y="3450599"/>
            <a:ext cx="1598864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Customer chat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493047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049355" y="4812562"/>
            <a:ext cx="886734" cy="122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Vendor email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45330" y="5990729"/>
            <a:ext cx="3718852" cy="1727254"/>
          </a:xfrm>
          <a:custGeom>
            <a:avLst/>
            <a:gdLst/>
            <a:ahLst/>
            <a:cxnLst/>
            <a:rect r="r" b="b" t="t" l="l"/>
            <a:pathLst>
              <a:path h="1727254" w="3718852">
                <a:moveTo>
                  <a:pt x="0" y="0"/>
                </a:moveTo>
                <a:lnTo>
                  <a:pt x="3718852" y="0"/>
                </a:lnTo>
                <a:lnTo>
                  <a:pt x="371885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83386" y="6584150"/>
            <a:ext cx="2018673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Shared PDF / webpage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7707051"/>
            <a:ext cx="3718852" cy="1508614"/>
          </a:xfrm>
          <a:custGeom>
            <a:avLst/>
            <a:gdLst/>
            <a:ahLst/>
            <a:cxnLst/>
            <a:rect r="r" b="b" t="t" l="l"/>
            <a:pathLst>
              <a:path h="1508614" w="3718852">
                <a:moveTo>
                  <a:pt x="0" y="0"/>
                </a:moveTo>
                <a:lnTo>
                  <a:pt x="3718852" y="0"/>
                </a:lnTo>
                <a:lnTo>
                  <a:pt x="3718852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43241" y="8068130"/>
            <a:ext cx="1377533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Internal apps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4134488" y="3640352"/>
            <a:ext cx="1312536" cy="4941258"/>
          </a:xfrm>
          <a:custGeom>
            <a:avLst/>
            <a:gdLst/>
            <a:ahLst/>
            <a:cxnLst/>
            <a:rect r="r" b="b" t="t" l="l"/>
            <a:pathLst>
              <a:path h="4941258" w="1312536">
                <a:moveTo>
                  <a:pt x="0" y="0"/>
                </a:moveTo>
                <a:lnTo>
                  <a:pt x="1312536" y="0"/>
                </a:lnTo>
                <a:lnTo>
                  <a:pt x="131253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85143" y="2472317"/>
            <a:ext cx="2448956" cy="42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47">
                <a:solidFill>
                  <a:srgbClr val="16C2DB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ATTACK VECTORS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748622" y="2995365"/>
            <a:ext cx="4790756" cy="1727254"/>
          </a:xfrm>
          <a:custGeom>
            <a:avLst/>
            <a:gdLst/>
            <a:ahLst/>
            <a:cxnLst/>
            <a:rect r="r" b="b" t="t" l="l"/>
            <a:pathLst>
              <a:path h="1727254" w="4790756">
                <a:moveTo>
                  <a:pt x="0" y="0"/>
                </a:moveTo>
                <a:lnTo>
                  <a:pt x="4790756" y="0"/>
                </a:lnTo>
                <a:lnTo>
                  <a:pt x="479075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191025" y="3383682"/>
            <a:ext cx="1886901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Hidden instructions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6748622" y="4919394"/>
            <a:ext cx="4790756" cy="1519546"/>
          </a:xfrm>
          <a:custGeom>
            <a:avLst/>
            <a:gdLst/>
            <a:ahLst/>
            <a:cxnLst/>
            <a:rect r="r" b="b" t="t" l="l"/>
            <a:pathLst>
              <a:path h="1519546" w="4790756">
                <a:moveTo>
                  <a:pt x="0" y="0"/>
                </a:moveTo>
                <a:lnTo>
                  <a:pt x="4790756" y="0"/>
                </a:lnTo>
                <a:lnTo>
                  <a:pt x="479075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836319" y="5394343"/>
            <a:ext cx="2546604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Private-data requests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748622" y="6635716"/>
            <a:ext cx="4790756" cy="1727254"/>
          </a:xfrm>
          <a:custGeom>
            <a:avLst/>
            <a:gdLst/>
            <a:ahLst/>
            <a:cxnLst/>
            <a:rect r="r" b="b" t="t" l="l"/>
            <a:pathLst>
              <a:path h="1727254" w="4790756">
                <a:moveTo>
                  <a:pt x="0" y="0"/>
                </a:moveTo>
                <a:lnTo>
                  <a:pt x="4790756" y="0"/>
                </a:lnTo>
                <a:lnTo>
                  <a:pt x="479075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7965818" y="7156462"/>
            <a:ext cx="2287606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Unsafe or false answers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139859" y="2472317"/>
            <a:ext cx="2583961" cy="421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1"/>
              </a:lnSpc>
            </a:pPr>
            <a:r>
              <a:rPr lang="en-US" b="true" sz="2351" spc="47">
                <a:solidFill>
                  <a:srgbClr val="16C2DB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POTENTIAL IMPACT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3497244" y="2995365"/>
            <a:ext cx="3926670" cy="1727254"/>
          </a:xfrm>
          <a:custGeom>
            <a:avLst/>
            <a:gdLst/>
            <a:ahLst/>
            <a:cxnLst/>
            <a:rect r="r" b="b" t="t" l="l"/>
            <a:pathLst>
              <a:path h="1727254" w="3926670">
                <a:moveTo>
                  <a:pt x="0" y="0"/>
                </a:moveTo>
                <a:lnTo>
                  <a:pt x="3926670" y="0"/>
                </a:lnTo>
                <a:lnTo>
                  <a:pt x="392667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4445071" y="3364632"/>
            <a:ext cx="1973536" cy="122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16C2DB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Customer privacy breach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3497244" y="4919394"/>
            <a:ext cx="3926670" cy="1519546"/>
          </a:xfrm>
          <a:custGeom>
            <a:avLst/>
            <a:gdLst/>
            <a:ahLst/>
            <a:cxnLst/>
            <a:rect r="r" b="b" t="t" l="l"/>
            <a:pathLst>
              <a:path h="1519546" w="3926670">
                <a:moveTo>
                  <a:pt x="0" y="0"/>
                </a:moveTo>
                <a:lnTo>
                  <a:pt x="3926670" y="0"/>
                </a:lnTo>
                <a:lnTo>
                  <a:pt x="392667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824210" y="5394343"/>
            <a:ext cx="3215258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16C2DB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Leaked company documents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3497244" y="6635716"/>
            <a:ext cx="3926670" cy="1508614"/>
          </a:xfrm>
          <a:custGeom>
            <a:avLst/>
            <a:gdLst/>
            <a:ahLst/>
            <a:cxnLst/>
            <a:rect r="r" b="b" t="t" l="l"/>
            <a:pathLst>
              <a:path h="1508614" w="3926670">
                <a:moveTo>
                  <a:pt x="0" y="0"/>
                </a:moveTo>
                <a:lnTo>
                  <a:pt x="3926670" y="0"/>
                </a:lnTo>
                <a:lnTo>
                  <a:pt x="3926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229697" y="7156462"/>
            <a:ext cx="2404285" cy="863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96"/>
              </a:lnSpc>
              <a:spcBef>
                <a:spcPct val="0"/>
              </a:spcBef>
            </a:pPr>
            <a:r>
              <a:rPr lang="en-US" b="true" sz="2896" spc="57" strike="noStrike" u="none">
                <a:solidFill>
                  <a:srgbClr val="16C2DB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Bad decisions / lost trust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5436086" y="3640352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4998574" y="5356674"/>
            <a:ext cx="1760986" cy="644987"/>
          </a:xfrm>
          <a:custGeom>
            <a:avLst/>
            <a:gdLst/>
            <a:ahLst/>
            <a:cxnLst/>
            <a:rect r="r" b="b" t="t" l="l"/>
            <a:pathLst>
              <a:path h="644987" w="1760986">
                <a:moveTo>
                  <a:pt x="0" y="0"/>
                </a:moveTo>
                <a:lnTo>
                  <a:pt x="1760986" y="0"/>
                </a:lnTo>
                <a:lnTo>
                  <a:pt x="176098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998574" y="7280704"/>
            <a:ext cx="1760986" cy="437279"/>
          </a:xfrm>
          <a:custGeom>
            <a:avLst/>
            <a:gdLst/>
            <a:ahLst/>
            <a:cxnLst/>
            <a:rect r="r" b="b" t="t" l="l"/>
            <a:pathLst>
              <a:path h="437279" w="1760986">
                <a:moveTo>
                  <a:pt x="0" y="0"/>
                </a:moveTo>
                <a:lnTo>
                  <a:pt x="1760986" y="0"/>
                </a:lnTo>
                <a:lnTo>
                  <a:pt x="176098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1320622" y="3640352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320622" y="5356674"/>
            <a:ext cx="2187560" cy="644987"/>
          </a:xfrm>
          <a:custGeom>
            <a:avLst/>
            <a:gdLst/>
            <a:ahLst/>
            <a:cxnLst/>
            <a:rect r="r" b="b" t="t" l="l"/>
            <a:pathLst>
              <a:path h="644987" w="2187560">
                <a:moveTo>
                  <a:pt x="0" y="0"/>
                </a:moveTo>
                <a:lnTo>
                  <a:pt x="2187560" y="0"/>
                </a:lnTo>
                <a:lnTo>
                  <a:pt x="2187560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320622" y="7280704"/>
            <a:ext cx="2187560" cy="437279"/>
          </a:xfrm>
          <a:custGeom>
            <a:avLst/>
            <a:gdLst/>
            <a:ahLst/>
            <a:cxnLst/>
            <a:rect r="r" b="b" t="t" l="l"/>
            <a:pathLst>
              <a:path h="437279" w="2187560">
                <a:moveTo>
                  <a:pt x="0" y="0"/>
                </a:moveTo>
                <a:lnTo>
                  <a:pt x="2187560" y="0"/>
                </a:lnTo>
                <a:lnTo>
                  <a:pt x="218756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3241" y="275715"/>
            <a:ext cx="5327493" cy="1354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6"/>
              </a:lnSpc>
            </a:pPr>
            <a:r>
              <a:rPr lang="en-US" b="true" sz="7456" spc="222">
                <a:solidFill>
                  <a:srgbClr val="FFFFFF">
                    <a:alpha val="89804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SENTINEL AI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9668" y="1279367"/>
            <a:ext cx="8684743" cy="1335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b="true" sz="7400" spc="220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GATEWAY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1663" y="2556682"/>
            <a:ext cx="4843074" cy="1368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sz="2311" strike="noStrike" u="none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Screens each request and response before it reaches users—without replacing the LLM itself.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285339"/>
            <a:ext cx="2843828" cy="4722618"/>
          </a:xfrm>
          <a:custGeom>
            <a:avLst/>
            <a:gdLst/>
            <a:ahLst/>
            <a:cxnLst/>
            <a:rect r="r" b="b" t="t" l="l"/>
            <a:pathLst>
              <a:path h="4722618" w="2843828">
                <a:moveTo>
                  <a:pt x="0" y="0"/>
                </a:moveTo>
                <a:lnTo>
                  <a:pt x="2843828" y="0"/>
                </a:lnTo>
                <a:lnTo>
                  <a:pt x="2843828" y="4722618"/>
                </a:lnTo>
                <a:lnTo>
                  <a:pt x="0" y="47226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162798" y="4832377"/>
            <a:ext cx="1863143" cy="39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USERS &amp; APPS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4929" y="5515651"/>
            <a:ext cx="1298880" cy="2675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6"/>
              </a:lnSpc>
            </a:pPr>
            <a:r>
              <a:rPr lang="en-US" sz="2179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Web</a:t>
            </a:r>
          </a:p>
          <a:p>
            <a:pPr algn="ctr">
              <a:lnSpc>
                <a:spcPts val="2616"/>
              </a:lnSpc>
            </a:pPr>
          </a:p>
          <a:p>
            <a:pPr algn="ctr">
              <a:lnSpc>
                <a:spcPts val="2616"/>
              </a:lnSpc>
            </a:pPr>
            <a:r>
              <a:rPr lang="en-US" sz="2179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Mobile</a:t>
            </a:r>
          </a:p>
          <a:p>
            <a:pPr algn="ctr">
              <a:lnSpc>
                <a:spcPts val="2616"/>
              </a:lnSpc>
            </a:pPr>
          </a:p>
          <a:p>
            <a:pPr algn="ctr">
              <a:lnSpc>
                <a:spcPts val="2616"/>
              </a:lnSpc>
            </a:pPr>
            <a:r>
              <a:rPr lang="en-US" sz="2179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APIs</a:t>
            </a:r>
          </a:p>
          <a:p>
            <a:pPr algn="ctr">
              <a:lnSpc>
                <a:spcPts val="2616"/>
              </a:lnSpc>
            </a:pPr>
          </a:p>
          <a:p>
            <a:pPr algn="ctr">
              <a:lnSpc>
                <a:spcPts val="2616"/>
              </a:lnSpc>
            </a:pPr>
            <a:r>
              <a:rPr lang="en-US" sz="2179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Enterprise</a:t>
            </a:r>
          </a:p>
          <a:p>
            <a:pPr algn="ctr">
              <a:lnSpc>
                <a:spcPts val="2616"/>
              </a:lnSpc>
            </a:pPr>
            <a:r>
              <a:rPr lang="en-US" sz="2179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Systems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01585" y="5067815"/>
            <a:ext cx="818773" cy="58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External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Input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696976" y="5564382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01914" y="5751088"/>
            <a:ext cx="618113" cy="39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sz="2047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Input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915732" y="7062064"/>
            <a:ext cx="1968804" cy="655919"/>
          </a:xfrm>
          <a:custGeom>
            <a:avLst/>
            <a:gdLst/>
            <a:ahLst/>
            <a:cxnLst/>
            <a:rect r="r" b="b" t="t" l="l"/>
            <a:pathLst>
              <a:path h="655919" w="1968804">
                <a:moveTo>
                  <a:pt x="0" y="0"/>
                </a:moveTo>
                <a:lnTo>
                  <a:pt x="1968804" y="0"/>
                </a:lnTo>
                <a:lnTo>
                  <a:pt x="196880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11394" y="7793828"/>
            <a:ext cx="999154" cy="58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Safe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Response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873598" y="2569017"/>
            <a:ext cx="6103292" cy="7717983"/>
          </a:xfrm>
          <a:custGeom>
            <a:avLst/>
            <a:gdLst/>
            <a:ahLst/>
            <a:cxnLst/>
            <a:rect r="r" b="b" t="t" l="l"/>
            <a:pathLst>
              <a:path h="7717983" w="6103292">
                <a:moveTo>
                  <a:pt x="0" y="0"/>
                </a:moveTo>
                <a:lnTo>
                  <a:pt x="6103292" y="0"/>
                </a:lnTo>
                <a:lnTo>
                  <a:pt x="6103292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894194" y="3386737"/>
            <a:ext cx="2023659" cy="84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8"/>
              </a:lnSpc>
            </a:pPr>
            <a:r>
              <a:rPr lang="en-US" b="true" sz="2654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SENTINEL AI GATEWAY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529866" y="4285339"/>
            <a:ext cx="4801694" cy="1289974"/>
          </a:xfrm>
          <a:custGeom>
            <a:avLst/>
            <a:gdLst/>
            <a:ahLst/>
            <a:cxnLst/>
            <a:rect r="r" b="b" t="t" l="l"/>
            <a:pathLst>
              <a:path h="1289974" w="4801694">
                <a:moveTo>
                  <a:pt x="0" y="0"/>
                </a:moveTo>
                <a:lnTo>
                  <a:pt x="4801694" y="0"/>
                </a:lnTo>
                <a:lnTo>
                  <a:pt x="4801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748622" y="4285339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7875638" y="4395613"/>
            <a:ext cx="2713560" cy="36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INPUT NORMALIZATION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879567" y="4700819"/>
            <a:ext cx="2320686" cy="54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Cleans and standardizes incoming content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6529866" y="5356674"/>
            <a:ext cx="4801694" cy="1289974"/>
          </a:xfrm>
          <a:custGeom>
            <a:avLst/>
            <a:gdLst/>
            <a:ahLst/>
            <a:cxnLst/>
            <a:rect r="r" b="b" t="t" l="l"/>
            <a:pathLst>
              <a:path h="1289974" w="4801694">
                <a:moveTo>
                  <a:pt x="0" y="0"/>
                </a:moveTo>
                <a:lnTo>
                  <a:pt x="4801694" y="0"/>
                </a:lnTo>
                <a:lnTo>
                  <a:pt x="4801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6748622" y="5564382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885379" y="5615542"/>
            <a:ext cx="1739492" cy="36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RISK ANALYSIS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77545" y="5935808"/>
            <a:ext cx="2522801" cy="54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Detect threats and assigns risk levels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6529866" y="6635716"/>
            <a:ext cx="4801694" cy="1300906"/>
          </a:xfrm>
          <a:custGeom>
            <a:avLst/>
            <a:gdLst/>
            <a:ahLst/>
            <a:cxnLst/>
            <a:rect r="r" b="b" t="t" l="l"/>
            <a:pathLst>
              <a:path h="1300906" w="4801694">
                <a:moveTo>
                  <a:pt x="0" y="0"/>
                </a:moveTo>
                <a:lnTo>
                  <a:pt x="4801694" y="0"/>
                </a:lnTo>
                <a:lnTo>
                  <a:pt x="480169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748622" y="6854356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7885284" y="6850530"/>
            <a:ext cx="1748981" cy="36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POLICY ENGINE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877718" y="7170797"/>
            <a:ext cx="2505578" cy="54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Applies rules and enforces security policies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6529866" y="7925691"/>
            <a:ext cx="4801694" cy="1289974"/>
          </a:xfrm>
          <a:custGeom>
            <a:avLst/>
            <a:gdLst/>
            <a:ahLst/>
            <a:cxnLst/>
            <a:rect r="r" b="b" t="t" l="l"/>
            <a:pathLst>
              <a:path h="1289974" w="4801694">
                <a:moveTo>
                  <a:pt x="0" y="0"/>
                </a:moveTo>
                <a:lnTo>
                  <a:pt x="4801694" y="0"/>
                </a:lnTo>
                <a:lnTo>
                  <a:pt x="480169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6748622" y="8133399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878658" y="8070459"/>
            <a:ext cx="2411566" cy="362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6"/>
              </a:lnSpc>
            </a:pPr>
            <a:r>
              <a:rPr lang="en-US" sz="1863" b="true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OUTPUT VALIDATION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882584" y="8405786"/>
            <a:ext cx="2018967" cy="54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Verifies and sanitizes</a:t>
            </a:r>
          </a:p>
          <a:p>
            <a:pPr algn="l">
              <a:lnSpc>
                <a:spcPts val="1940"/>
              </a:lnSpc>
            </a:pPr>
            <a:r>
              <a:rPr lang="en-US" sz="1617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model responses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25385" y="5067815"/>
            <a:ext cx="931025" cy="58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Sanitized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Request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1965952" y="5564382"/>
            <a:ext cx="1750048" cy="437279"/>
          </a:xfrm>
          <a:custGeom>
            <a:avLst/>
            <a:gdLst/>
            <a:ahLst/>
            <a:cxnLst/>
            <a:rect r="r" b="b" t="t" l="l"/>
            <a:pathLst>
              <a:path h="437279" w="1750048">
                <a:moveTo>
                  <a:pt x="0" y="0"/>
                </a:moveTo>
                <a:lnTo>
                  <a:pt x="1750048" y="0"/>
                </a:lnTo>
                <a:lnTo>
                  <a:pt x="175004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11965952" y="7062064"/>
            <a:ext cx="1750048" cy="655919"/>
          </a:xfrm>
          <a:custGeom>
            <a:avLst/>
            <a:gdLst/>
            <a:ahLst/>
            <a:cxnLst/>
            <a:rect r="r" b="b" t="t" l="l"/>
            <a:pathLst>
              <a:path h="655919" w="1750048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716000" y="4285339"/>
            <a:ext cx="3489158" cy="4930326"/>
          </a:xfrm>
          <a:custGeom>
            <a:avLst/>
            <a:gdLst/>
            <a:ahLst/>
            <a:cxnLst/>
            <a:rect r="r" b="b" t="t" l="l"/>
            <a:pathLst>
              <a:path h="4930326" w="3489158">
                <a:moveTo>
                  <a:pt x="0" y="0"/>
                </a:moveTo>
                <a:lnTo>
                  <a:pt x="3489158" y="0"/>
                </a:lnTo>
                <a:lnTo>
                  <a:pt x="3489158" y="4930326"/>
                </a:lnTo>
                <a:lnTo>
                  <a:pt x="0" y="493032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14468001" y="4621525"/>
            <a:ext cx="1933571" cy="70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TRUSTED</a:t>
            </a:r>
          </a:p>
          <a:p>
            <a:pPr algn="ctr">
              <a:lnSpc>
                <a:spcPts val="2457"/>
              </a:lnSpc>
            </a:pPr>
            <a:r>
              <a:rPr lang="en-US" b="true" sz="2047">
                <a:solidFill>
                  <a:srgbClr val="09BBE2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LLM ENDPOINT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13923818" y="5564382"/>
            <a:ext cx="3062584" cy="2372241"/>
          </a:xfrm>
          <a:custGeom>
            <a:avLst/>
            <a:gdLst/>
            <a:ahLst/>
            <a:cxnLst/>
            <a:rect r="r" b="b" t="t" l="l"/>
            <a:pathLst>
              <a:path h="2372241" w="3062584">
                <a:moveTo>
                  <a:pt x="0" y="0"/>
                </a:moveTo>
                <a:lnTo>
                  <a:pt x="3062584" y="0"/>
                </a:lnTo>
                <a:lnTo>
                  <a:pt x="3062584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4513594" y="8025276"/>
            <a:ext cx="1842384" cy="6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Large Language Model Services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91320" y="7793828"/>
            <a:ext cx="999154" cy="58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Model</a:t>
            </a:r>
          </a:p>
          <a:p>
            <a:pPr algn="ctr">
              <a:lnSpc>
                <a:spcPts val="2088"/>
              </a:lnSpc>
            </a:pPr>
            <a:r>
              <a:rPr lang="en-US" sz="1740">
                <a:solidFill>
                  <a:srgbClr val="FFFFFF">
                    <a:alpha val="80000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Response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1832" y="526200"/>
            <a:ext cx="5110521" cy="12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45"/>
              </a:lnSpc>
            </a:pPr>
            <a:r>
              <a:rPr lang="en-US" b="true" sz="6845" spc="137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END-TO-END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1891" y="1360152"/>
            <a:ext cx="5104686" cy="1347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b="true" sz="7543" spc="151">
                <a:solidFill>
                  <a:srgbClr val="48DCF8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WORKFLOW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2329" y="2645929"/>
            <a:ext cx="5060881" cy="1237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55"/>
              </a:lnSpc>
              <a:spcBef>
                <a:spcPct val="0"/>
              </a:spcBef>
            </a:pPr>
            <a:r>
              <a:rPr lang="en-US" sz="2351" spc="47" strike="noStrike" u="none">
                <a:solidFill>
                  <a:srgbClr val="FFFFFF"/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 practical flow for protecting everyday AI workflows from hidden instructions and data exposure.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919394"/>
            <a:ext cx="1542230" cy="1519546"/>
          </a:xfrm>
          <a:custGeom>
            <a:avLst/>
            <a:gdLst/>
            <a:ahLst/>
            <a:cxnLst/>
            <a:rect r="r" b="b" t="t" l="l"/>
            <a:pathLst>
              <a:path h="1519546" w="1542230">
                <a:moveTo>
                  <a:pt x="0" y="0"/>
                </a:moveTo>
                <a:lnTo>
                  <a:pt x="1542230" y="0"/>
                </a:lnTo>
                <a:lnTo>
                  <a:pt x="154223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957866" y="5564382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821952" y="4919394"/>
            <a:ext cx="1968804" cy="1519546"/>
          </a:xfrm>
          <a:custGeom>
            <a:avLst/>
            <a:gdLst/>
            <a:ahLst/>
            <a:cxnLst/>
            <a:rect r="r" b="b" t="t" l="l"/>
            <a:pathLst>
              <a:path h="1519546" w="1968804">
                <a:moveTo>
                  <a:pt x="0" y="0"/>
                </a:moveTo>
                <a:lnTo>
                  <a:pt x="1968804" y="0"/>
                </a:lnTo>
                <a:lnTo>
                  <a:pt x="196880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929745" y="5389629"/>
            <a:ext cx="1740567" cy="63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 spc="37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INPUT NORMALIZATION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572000" y="5564382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436086" y="4919394"/>
            <a:ext cx="1750048" cy="1727254"/>
          </a:xfrm>
          <a:custGeom>
            <a:avLst/>
            <a:gdLst/>
            <a:ahLst/>
            <a:cxnLst/>
            <a:rect r="r" b="b" t="t" l="l"/>
            <a:pathLst>
              <a:path h="1727254" w="1750048">
                <a:moveTo>
                  <a:pt x="0" y="0"/>
                </a:moveTo>
                <a:lnTo>
                  <a:pt x="1750048" y="0"/>
                </a:lnTo>
                <a:lnTo>
                  <a:pt x="175004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781262" y="5122904"/>
            <a:ext cx="1156923" cy="1172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PROMPT/ CONTEXT</a:t>
            </a:r>
          </a:p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RISK ANALYSIS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75196" y="556438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050220" y="4711687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8423985" y="5389629"/>
            <a:ext cx="1014977" cy="630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6"/>
              </a:lnSpc>
            </a:pPr>
            <a:r>
              <a:rPr lang="en-US" b="true" sz="1863" spc="37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POLICY</a:t>
            </a:r>
          </a:p>
          <a:p>
            <a:pPr algn="ctr">
              <a:lnSpc>
                <a:spcPts val="2236"/>
              </a:lnSpc>
            </a:pPr>
            <a:r>
              <a:rPr lang="en-US" b="true" sz="1863" spc="37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DECISION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351818" y="4066699"/>
            <a:ext cx="1104718" cy="1300906"/>
          </a:xfrm>
          <a:custGeom>
            <a:avLst/>
            <a:gdLst/>
            <a:ahLst/>
            <a:cxnLst/>
            <a:rect r="r" b="b" t="t" l="l"/>
            <a:pathLst>
              <a:path h="1300906" w="1104718">
                <a:moveTo>
                  <a:pt x="0" y="0"/>
                </a:moveTo>
                <a:lnTo>
                  <a:pt x="1104718" y="0"/>
                </a:lnTo>
                <a:lnTo>
                  <a:pt x="110471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445598" y="3640352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948078" y="4023463"/>
            <a:ext cx="819362" cy="36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48DCF8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ALLOW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570574" y="556438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0445598" y="5138034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828484" y="5544608"/>
            <a:ext cx="1058550" cy="36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SANITIZE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351818" y="5990729"/>
            <a:ext cx="1104718" cy="1519546"/>
          </a:xfrm>
          <a:custGeom>
            <a:avLst/>
            <a:gdLst/>
            <a:ahLst/>
            <a:cxnLst/>
            <a:rect r="r" b="b" t="t" l="l"/>
            <a:pathLst>
              <a:path h="1519546" w="1104718">
                <a:moveTo>
                  <a:pt x="0" y="0"/>
                </a:moveTo>
                <a:lnTo>
                  <a:pt x="1104718" y="0"/>
                </a:lnTo>
                <a:lnTo>
                  <a:pt x="110471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445598" y="6635716"/>
            <a:ext cx="1968804" cy="1082267"/>
          </a:xfrm>
          <a:custGeom>
            <a:avLst/>
            <a:gdLst/>
            <a:ahLst/>
            <a:cxnLst/>
            <a:rect r="r" b="b" t="t" l="l"/>
            <a:pathLst>
              <a:path h="1082267" w="1968804">
                <a:moveTo>
                  <a:pt x="0" y="0"/>
                </a:moveTo>
                <a:lnTo>
                  <a:pt x="1968804" y="0"/>
                </a:lnTo>
                <a:lnTo>
                  <a:pt x="196880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0962661" y="7035631"/>
            <a:ext cx="790195" cy="369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BLOCK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184708" y="4066699"/>
            <a:ext cx="1323474" cy="3224936"/>
          </a:xfrm>
          <a:custGeom>
            <a:avLst/>
            <a:gdLst/>
            <a:ahLst/>
            <a:cxnLst/>
            <a:rect r="r" b="b" t="t" l="l"/>
            <a:pathLst>
              <a:path h="3224936" w="1323474">
                <a:moveTo>
                  <a:pt x="0" y="0"/>
                </a:moveTo>
                <a:lnTo>
                  <a:pt x="1323474" y="0"/>
                </a:lnTo>
                <a:lnTo>
                  <a:pt x="132347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278488" y="4919394"/>
            <a:ext cx="1968804" cy="1519546"/>
          </a:xfrm>
          <a:custGeom>
            <a:avLst/>
            <a:gdLst/>
            <a:ahLst/>
            <a:cxnLst/>
            <a:rect r="r" b="b" t="t" l="l"/>
            <a:pathLst>
              <a:path h="1519546" w="1968804">
                <a:moveTo>
                  <a:pt x="0" y="0"/>
                </a:moveTo>
                <a:lnTo>
                  <a:pt x="1968804" y="0"/>
                </a:lnTo>
                <a:lnTo>
                  <a:pt x="196880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551488" y="5408708"/>
            <a:ext cx="1475596" cy="63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LLM PROCESSING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3278488" y="5564382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5673866" y="4919394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5909886" y="5408708"/>
            <a:ext cx="1366518" cy="63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OUTPUT INSPECTION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15017598" y="5564382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6319196" y="6428009"/>
            <a:ext cx="448450" cy="863627"/>
          </a:xfrm>
          <a:custGeom>
            <a:avLst/>
            <a:gdLst/>
            <a:ahLst/>
            <a:cxnLst/>
            <a:rect r="r" b="b" t="t" l="l"/>
            <a:pathLst>
              <a:path h="863627" w="448450">
                <a:moveTo>
                  <a:pt x="0" y="0"/>
                </a:moveTo>
                <a:lnTo>
                  <a:pt x="448450" y="0"/>
                </a:lnTo>
                <a:lnTo>
                  <a:pt x="44845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5673866" y="7280704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5975134" y="7743139"/>
            <a:ext cx="1236022" cy="63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48DCF8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SAFE</a:t>
            </a:r>
          </a:p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48DCF8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RESPONSE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89486" y="5408708"/>
            <a:ext cx="682099" cy="637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USER</a:t>
            </a:r>
          </a:p>
          <a:p>
            <a:pPr algn="ctr">
              <a:lnSpc>
                <a:spcPts val="2184"/>
              </a:lnSpc>
            </a:pPr>
            <a:r>
              <a:rPr lang="en-US" b="true" sz="1986" spc="39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INPUT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50220" y="634055"/>
            <a:ext cx="7853340" cy="9226597"/>
          </a:xfrm>
          <a:custGeom>
            <a:avLst/>
            <a:gdLst/>
            <a:ahLst/>
            <a:cxnLst/>
            <a:rect r="r" b="b" t="t" l="l"/>
            <a:pathLst>
              <a:path h="9226597" w="7853340">
                <a:moveTo>
                  <a:pt x="0" y="0"/>
                </a:moveTo>
                <a:lnTo>
                  <a:pt x="7853340" y="0"/>
                </a:lnTo>
                <a:lnTo>
                  <a:pt x="7853340" y="9226597"/>
                </a:lnTo>
                <a:lnTo>
                  <a:pt x="0" y="9226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50220" y="1705390"/>
            <a:ext cx="7853340" cy="1300906"/>
          </a:xfrm>
          <a:custGeom>
            <a:avLst/>
            <a:gdLst/>
            <a:ahLst/>
            <a:cxnLst/>
            <a:rect r="r" b="b" t="t" l="l"/>
            <a:pathLst>
              <a:path h="1300906" w="7853340">
                <a:moveTo>
                  <a:pt x="0" y="0"/>
                </a:moveTo>
                <a:lnTo>
                  <a:pt x="7853340" y="0"/>
                </a:lnTo>
                <a:lnTo>
                  <a:pt x="7853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487732" y="1924030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9882702" y="2050772"/>
            <a:ext cx="2925095" cy="537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6"/>
              </a:lnSpc>
            </a:pPr>
            <a:r>
              <a:rPr lang="en-US" b="true" sz="3036" spc="29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INPUT SCANNING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050220" y="2995365"/>
            <a:ext cx="7853340" cy="1300906"/>
          </a:xfrm>
          <a:custGeom>
            <a:avLst/>
            <a:gdLst/>
            <a:ahLst/>
            <a:cxnLst/>
            <a:rect r="r" b="b" t="t" l="l"/>
            <a:pathLst>
              <a:path h="1300906" w="7853340">
                <a:moveTo>
                  <a:pt x="0" y="0"/>
                </a:moveTo>
                <a:lnTo>
                  <a:pt x="7853340" y="0"/>
                </a:lnTo>
                <a:lnTo>
                  <a:pt x="7853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487732" y="2995365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873242" y="3281536"/>
            <a:ext cx="3871106" cy="56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b="true" sz="3102" spc="30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INJECTION DETECTION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050220" y="4066699"/>
            <a:ext cx="7853340" cy="1300906"/>
          </a:xfrm>
          <a:custGeom>
            <a:avLst/>
            <a:gdLst/>
            <a:ahLst/>
            <a:cxnLst/>
            <a:rect r="r" b="b" t="t" l="l"/>
            <a:pathLst>
              <a:path h="1300906" w="7853340">
                <a:moveTo>
                  <a:pt x="0" y="0"/>
                </a:moveTo>
                <a:lnTo>
                  <a:pt x="7853340" y="0"/>
                </a:lnTo>
                <a:lnTo>
                  <a:pt x="785334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87732" y="4285339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9863229" y="4516525"/>
            <a:ext cx="4872386" cy="56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b="true" sz="3102" spc="30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SENSITIVE DATA DETECTION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50220" y="5138034"/>
            <a:ext cx="7853340" cy="1508614"/>
          </a:xfrm>
          <a:custGeom>
            <a:avLst/>
            <a:gdLst/>
            <a:ahLst/>
            <a:cxnLst/>
            <a:rect r="r" b="b" t="t" l="l"/>
            <a:pathLst>
              <a:path h="1508614" w="7853340">
                <a:moveTo>
                  <a:pt x="0" y="0"/>
                </a:moveTo>
                <a:lnTo>
                  <a:pt x="7853340" y="0"/>
                </a:lnTo>
                <a:lnTo>
                  <a:pt x="7853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487732" y="5564382"/>
            <a:ext cx="875024" cy="874559"/>
          </a:xfrm>
          <a:custGeom>
            <a:avLst/>
            <a:gdLst/>
            <a:ahLst/>
            <a:cxnLst/>
            <a:rect r="r" b="b" t="t" l="l"/>
            <a:pathLst>
              <a:path h="874559" w="875024">
                <a:moveTo>
                  <a:pt x="0" y="0"/>
                </a:moveTo>
                <a:lnTo>
                  <a:pt x="875024" y="0"/>
                </a:lnTo>
                <a:lnTo>
                  <a:pt x="875024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9867937" y="5736453"/>
            <a:ext cx="4401567" cy="56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b="true" sz="3102" spc="30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POLICY AND RISK ENGINE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8050220" y="6428009"/>
            <a:ext cx="7853340" cy="1508614"/>
          </a:xfrm>
          <a:custGeom>
            <a:avLst/>
            <a:gdLst/>
            <a:ahLst/>
            <a:cxnLst/>
            <a:rect r="r" b="b" t="t" l="l"/>
            <a:pathLst>
              <a:path h="1508614" w="7853340">
                <a:moveTo>
                  <a:pt x="0" y="0"/>
                </a:moveTo>
                <a:lnTo>
                  <a:pt x="7853340" y="0"/>
                </a:lnTo>
                <a:lnTo>
                  <a:pt x="7853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487732" y="6635716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15820">
            <a:off x="9876509" y="6941321"/>
            <a:ext cx="3566502" cy="56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b="true" sz="3102" spc="30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OUTPUT VALIDATION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050220" y="7707051"/>
            <a:ext cx="7853340" cy="1508614"/>
          </a:xfrm>
          <a:custGeom>
            <a:avLst/>
            <a:gdLst/>
            <a:ahLst/>
            <a:cxnLst/>
            <a:rect r="r" b="b" t="t" l="l"/>
            <a:pathLst>
              <a:path h="1508614" w="7853340">
                <a:moveTo>
                  <a:pt x="0" y="0"/>
                </a:moveTo>
                <a:lnTo>
                  <a:pt x="7853340" y="0"/>
                </a:lnTo>
                <a:lnTo>
                  <a:pt x="7853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487732" y="7925691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15820">
            <a:off x="9858599" y="8160963"/>
            <a:ext cx="5357363" cy="56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2"/>
              </a:lnSpc>
            </a:pPr>
            <a:r>
              <a:rPr lang="en-US" b="true" sz="3102" spc="30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AUDIT AND EVIDENCE LOGGING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37694" y="1726187"/>
            <a:ext cx="5166499" cy="12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67"/>
              </a:lnSpc>
            </a:pPr>
            <a:r>
              <a:rPr lang="en-US" b="true" sz="6767" spc="66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MULTI-LAYER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5949" y="2767393"/>
            <a:ext cx="3341017" cy="115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45"/>
              </a:lnSpc>
            </a:pPr>
            <a:r>
              <a:rPr lang="en-US" b="true" sz="6345" spc="61">
                <a:solidFill>
                  <a:srgbClr val="0CC0F1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DEFENSE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32064" y="3749067"/>
            <a:ext cx="5729497" cy="118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2"/>
              </a:lnSpc>
            </a:pPr>
            <a:r>
              <a:rPr lang="en-US" b="true" sz="6662" spc="65">
                <a:solidFill>
                  <a:srgbClr val="0CC0F1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ARCHITECTURE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38392" y="5250549"/>
            <a:ext cx="5096745" cy="2250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44"/>
              </a:lnSpc>
              <a:spcBef>
                <a:spcPct val="0"/>
              </a:spcBef>
            </a:pPr>
            <a:r>
              <a:rPr lang="en-US" sz="2896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Independent checks inspect inputs, detect sensitive data, enforce policy, review outputs, and record evidence.</a:t>
            </a:r>
          </a:p>
        </p:txBody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4257" y="240058"/>
            <a:ext cx="8831335" cy="2126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5"/>
              </a:lnSpc>
            </a:pPr>
            <a:r>
              <a:rPr lang="en-US" sz="6985" b="true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RISK SCORING AND DECISION FLOWCHART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0200" y="2336881"/>
            <a:ext cx="8237069" cy="785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3"/>
              </a:lnSpc>
              <a:spcBef>
                <a:spcPct val="0"/>
              </a:spcBef>
            </a:pPr>
            <a:r>
              <a:rPr lang="en-US" b="true" sz="2623" spc="52" strike="noStrike" u="none">
                <a:solidFill>
                  <a:srgbClr val="1DB8D1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Risk-based action: allow normal requests, sanitize suspicious content, or block and escalate high-risk cases.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7393952" y="2995365"/>
            <a:ext cx="3281340" cy="1727254"/>
          </a:xfrm>
          <a:custGeom>
            <a:avLst/>
            <a:gdLst/>
            <a:ahLst/>
            <a:cxnLst/>
            <a:rect r="r" b="b" t="t" l="l"/>
            <a:pathLst>
              <a:path h="1727254" w="3281340">
                <a:moveTo>
                  <a:pt x="0" y="0"/>
                </a:moveTo>
                <a:lnTo>
                  <a:pt x="3281340" y="0"/>
                </a:lnTo>
                <a:lnTo>
                  <a:pt x="3281340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527727" y="3231452"/>
            <a:ext cx="3080742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1DB8D1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RISK SCORING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157288" y="3657632"/>
            <a:ext cx="1760005" cy="6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3"/>
              </a:lnSpc>
            </a:pPr>
            <a:r>
              <a:rPr lang="en-US" sz="1986" spc="39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Evaluate prompt </a:t>
            </a:r>
          </a:p>
          <a:p>
            <a:pPr algn="ctr">
              <a:lnSpc>
                <a:spcPts val="2383"/>
              </a:lnSpc>
            </a:pPr>
            <a:r>
              <a:rPr lang="en-US" sz="1986" spc="39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and context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56440" y="4493047"/>
            <a:ext cx="3937608" cy="1945894"/>
          </a:xfrm>
          <a:custGeom>
            <a:avLst/>
            <a:gdLst/>
            <a:ahLst/>
            <a:cxnLst/>
            <a:rect r="r" b="b" t="t" l="l"/>
            <a:pathLst>
              <a:path h="1945894" w="3937608">
                <a:moveTo>
                  <a:pt x="0" y="0"/>
                </a:moveTo>
                <a:lnTo>
                  <a:pt x="3937608" y="0"/>
                </a:lnTo>
                <a:lnTo>
                  <a:pt x="3937608" y="1945893"/>
                </a:lnTo>
                <a:lnTo>
                  <a:pt x="0" y="194589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65479" y="5109009"/>
            <a:ext cx="1543623" cy="783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74"/>
              </a:lnSpc>
            </a:pPr>
            <a:r>
              <a:rPr lang="en-US" b="true" sz="2311" spc="46">
                <a:solidFill>
                  <a:srgbClr val="FFFFFF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ASSESS </a:t>
            </a:r>
          </a:p>
          <a:p>
            <a:pPr algn="ctr">
              <a:lnSpc>
                <a:spcPts val="2774"/>
              </a:lnSpc>
            </a:pPr>
            <a:r>
              <a:rPr lang="en-US" b="true" sz="2311" spc="46">
                <a:solidFill>
                  <a:srgbClr val="FFFFFF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RISK LEVEL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259464" y="5356674"/>
            <a:ext cx="229694" cy="1716322"/>
          </a:xfrm>
          <a:custGeom>
            <a:avLst/>
            <a:gdLst/>
            <a:ahLst/>
            <a:cxnLst/>
            <a:rect r="r" b="b" t="t" l="l"/>
            <a:pathLst>
              <a:path h="1716322" w="229694">
                <a:moveTo>
                  <a:pt x="0" y="0"/>
                </a:moveTo>
                <a:lnTo>
                  <a:pt x="229694" y="0"/>
                </a:lnTo>
                <a:lnTo>
                  <a:pt x="22969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39110" y="6854356"/>
            <a:ext cx="3270402" cy="863627"/>
          </a:xfrm>
          <a:custGeom>
            <a:avLst/>
            <a:gdLst/>
            <a:ahLst/>
            <a:cxnLst/>
            <a:rect r="r" b="b" t="t" l="l"/>
            <a:pathLst>
              <a:path h="863627" w="3270402">
                <a:moveTo>
                  <a:pt x="0" y="0"/>
                </a:moveTo>
                <a:lnTo>
                  <a:pt x="3270402" y="0"/>
                </a:lnTo>
                <a:lnTo>
                  <a:pt x="327040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01598" y="8352038"/>
            <a:ext cx="3926670" cy="1727254"/>
          </a:xfrm>
          <a:custGeom>
            <a:avLst/>
            <a:gdLst/>
            <a:ahLst/>
            <a:cxnLst/>
            <a:rect r="r" b="b" t="t" l="l"/>
            <a:pathLst>
              <a:path h="1727254" w="3926670">
                <a:moveTo>
                  <a:pt x="0" y="0"/>
                </a:moveTo>
                <a:lnTo>
                  <a:pt x="3926670" y="0"/>
                </a:lnTo>
                <a:lnTo>
                  <a:pt x="392667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75234" y="8562990"/>
            <a:ext cx="3080742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1DB8D1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PASS THROUGH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097954" y="8974109"/>
            <a:ext cx="2573688" cy="6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3"/>
              </a:lnSpc>
              <a:spcBef>
                <a:spcPct val="0"/>
              </a:spcBef>
            </a:pPr>
            <a:r>
              <a:rPr lang="en-US" sz="1986" spc="39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Allow routine, low-risk requests to continue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259464" y="7499343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706488" y="6209369"/>
            <a:ext cx="437512" cy="863627"/>
          </a:xfrm>
          <a:custGeom>
            <a:avLst/>
            <a:gdLst/>
            <a:ahLst/>
            <a:cxnLst/>
            <a:rect r="r" b="b" t="t" l="l"/>
            <a:pathLst>
              <a:path h="863627" w="437512">
                <a:moveTo>
                  <a:pt x="0" y="0"/>
                </a:moveTo>
                <a:lnTo>
                  <a:pt x="437512" y="0"/>
                </a:lnTo>
                <a:lnTo>
                  <a:pt x="43751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7393952" y="6854356"/>
            <a:ext cx="3281340" cy="863627"/>
          </a:xfrm>
          <a:custGeom>
            <a:avLst/>
            <a:gdLst/>
            <a:ahLst/>
            <a:cxnLst/>
            <a:rect r="r" b="b" t="t" l="l"/>
            <a:pathLst>
              <a:path h="863627" w="3281340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956440" y="8352038"/>
            <a:ext cx="3937608" cy="1727254"/>
          </a:xfrm>
          <a:custGeom>
            <a:avLst/>
            <a:gdLst/>
            <a:ahLst/>
            <a:cxnLst/>
            <a:rect r="r" b="b" t="t" l="l"/>
            <a:pathLst>
              <a:path h="1727254" w="3937608">
                <a:moveTo>
                  <a:pt x="0" y="0"/>
                </a:moveTo>
                <a:lnTo>
                  <a:pt x="3937608" y="0"/>
                </a:lnTo>
                <a:lnTo>
                  <a:pt x="393760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527727" y="8562990"/>
            <a:ext cx="3080742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1DB8D1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SANITIZE OR CONSTRAIN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711339" y="8974109"/>
            <a:ext cx="2651903" cy="9519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3"/>
              </a:lnSpc>
              <a:spcBef>
                <a:spcPct val="0"/>
              </a:spcBef>
            </a:pPr>
            <a:r>
              <a:rPr lang="en-US" sz="1986" spc="39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Remove or neutralize suspicious content before forwarding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925244" y="7499343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361330" y="5356674"/>
            <a:ext cx="448450" cy="1716322"/>
          </a:xfrm>
          <a:custGeom>
            <a:avLst/>
            <a:gdLst/>
            <a:ahLst/>
            <a:cxnLst/>
            <a:rect r="r" b="b" t="t" l="l"/>
            <a:pathLst>
              <a:path h="1716322" w="448450">
                <a:moveTo>
                  <a:pt x="0" y="0"/>
                </a:moveTo>
                <a:lnTo>
                  <a:pt x="448450" y="0"/>
                </a:lnTo>
                <a:lnTo>
                  <a:pt x="44845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059732" y="6854356"/>
            <a:ext cx="3051646" cy="863627"/>
          </a:xfrm>
          <a:custGeom>
            <a:avLst/>
            <a:gdLst/>
            <a:ahLst/>
            <a:cxnLst/>
            <a:rect r="r" b="b" t="t" l="l"/>
            <a:pathLst>
              <a:path h="863627" w="3051646">
                <a:moveTo>
                  <a:pt x="0" y="0"/>
                </a:moveTo>
                <a:lnTo>
                  <a:pt x="3051646" y="0"/>
                </a:lnTo>
                <a:lnTo>
                  <a:pt x="305164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622220" y="8352038"/>
            <a:ext cx="3926670" cy="1727254"/>
          </a:xfrm>
          <a:custGeom>
            <a:avLst/>
            <a:gdLst/>
            <a:ahLst/>
            <a:cxnLst/>
            <a:rect r="r" b="b" t="t" l="l"/>
            <a:pathLst>
              <a:path h="1727254" w="3926670">
                <a:moveTo>
                  <a:pt x="0" y="0"/>
                </a:moveTo>
                <a:lnTo>
                  <a:pt x="3926670" y="0"/>
                </a:lnTo>
                <a:lnTo>
                  <a:pt x="392667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019484" y="8562990"/>
            <a:ext cx="3080742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D64552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BLOCK OR ESCALATE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020910" y="8974109"/>
            <a:ext cx="3016275" cy="666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383"/>
              </a:lnSpc>
              <a:spcBef>
                <a:spcPct val="0"/>
              </a:spcBef>
            </a:pPr>
            <a:r>
              <a:rPr lang="en-US" sz="1986" spc="39" strike="noStrike" u="none">
                <a:solidFill>
                  <a:srgbClr val="FFFFFF">
                    <a:alpha val="84706"/>
                  </a:srgbClr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Stop risky requests or send them for human review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361330" y="7499343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7527727" y="7132210"/>
            <a:ext cx="3080742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1DB8D1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MEDIUM RISK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019484" y="7132210"/>
            <a:ext cx="3080742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D64552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HIGH RISK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875234" y="7132210"/>
            <a:ext cx="3080742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1DB8D1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LOW RISK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91625" y="6416040"/>
            <a:ext cx="1279208" cy="541972"/>
            <a:chOff x="0" y="0"/>
            <a:chExt cx="1705610" cy="72263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50800" y="49010"/>
              <a:ext cx="1604310" cy="623693"/>
            </a:xfrm>
            <a:custGeom>
              <a:avLst/>
              <a:gdLst/>
              <a:ahLst/>
              <a:cxnLst/>
              <a:rect r="r" b="b" t="t" l="l"/>
              <a:pathLst>
                <a:path h="623693" w="1604310">
                  <a:moveTo>
                    <a:pt x="0" y="431050"/>
                  </a:moveTo>
                  <a:cubicBezTo>
                    <a:pt x="1270" y="418350"/>
                    <a:pt x="1270" y="412000"/>
                    <a:pt x="1270" y="412000"/>
                  </a:cubicBezTo>
                  <a:cubicBezTo>
                    <a:pt x="1270" y="412000"/>
                    <a:pt x="3810" y="405650"/>
                    <a:pt x="5080" y="403110"/>
                  </a:cubicBezTo>
                  <a:cubicBezTo>
                    <a:pt x="6350" y="399300"/>
                    <a:pt x="7620" y="394220"/>
                    <a:pt x="7620" y="394220"/>
                  </a:cubicBezTo>
                  <a:cubicBezTo>
                    <a:pt x="8890" y="392950"/>
                    <a:pt x="25400" y="368820"/>
                    <a:pt x="33020" y="359930"/>
                  </a:cubicBezTo>
                  <a:cubicBezTo>
                    <a:pt x="38100" y="353580"/>
                    <a:pt x="44450" y="352310"/>
                    <a:pt x="46990" y="344690"/>
                  </a:cubicBezTo>
                  <a:cubicBezTo>
                    <a:pt x="50800" y="329450"/>
                    <a:pt x="34290" y="300240"/>
                    <a:pt x="30480" y="274840"/>
                  </a:cubicBezTo>
                  <a:cubicBezTo>
                    <a:pt x="26670" y="244360"/>
                    <a:pt x="15240" y="202450"/>
                    <a:pt x="26670" y="177050"/>
                  </a:cubicBezTo>
                  <a:cubicBezTo>
                    <a:pt x="39370" y="152920"/>
                    <a:pt x="81280" y="147840"/>
                    <a:pt x="99060" y="124980"/>
                  </a:cubicBezTo>
                  <a:cubicBezTo>
                    <a:pt x="118110" y="100850"/>
                    <a:pt x="114300" y="55130"/>
                    <a:pt x="138430" y="34810"/>
                  </a:cubicBezTo>
                  <a:cubicBezTo>
                    <a:pt x="162560" y="11950"/>
                    <a:pt x="218440" y="-5830"/>
                    <a:pt x="247650" y="1790"/>
                  </a:cubicBezTo>
                  <a:cubicBezTo>
                    <a:pt x="275590" y="9410"/>
                    <a:pt x="300990" y="41160"/>
                    <a:pt x="313690" y="66560"/>
                  </a:cubicBezTo>
                  <a:cubicBezTo>
                    <a:pt x="326390" y="90690"/>
                    <a:pt x="326390" y="128790"/>
                    <a:pt x="325120" y="146570"/>
                  </a:cubicBezTo>
                  <a:cubicBezTo>
                    <a:pt x="325120" y="156730"/>
                    <a:pt x="317500" y="164350"/>
                    <a:pt x="318770" y="168160"/>
                  </a:cubicBezTo>
                  <a:cubicBezTo>
                    <a:pt x="320040" y="169430"/>
                    <a:pt x="322580" y="169430"/>
                    <a:pt x="325120" y="169430"/>
                  </a:cubicBezTo>
                  <a:cubicBezTo>
                    <a:pt x="328930" y="170700"/>
                    <a:pt x="335280" y="171970"/>
                    <a:pt x="335280" y="171970"/>
                  </a:cubicBezTo>
                  <a:cubicBezTo>
                    <a:pt x="335280" y="171970"/>
                    <a:pt x="341630" y="175780"/>
                    <a:pt x="345440" y="177050"/>
                  </a:cubicBezTo>
                  <a:cubicBezTo>
                    <a:pt x="347980" y="178320"/>
                    <a:pt x="354330" y="182130"/>
                    <a:pt x="354330" y="182130"/>
                  </a:cubicBezTo>
                  <a:cubicBezTo>
                    <a:pt x="354330" y="182130"/>
                    <a:pt x="354330" y="182130"/>
                    <a:pt x="355600" y="183400"/>
                  </a:cubicBezTo>
                  <a:cubicBezTo>
                    <a:pt x="356870" y="183400"/>
                    <a:pt x="361950" y="185940"/>
                    <a:pt x="364490" y="184670"/>
                  </a:cubicBezTo>
                  <a:cubicBezTo>
                    <a:pt x="375920" y="178320"/>
                    <a:pt x="379730" y="99580"/>
                    <a:pt x="403860" y="85610"/>
                  </a:cubicBezTo>
                  <a:cubicBezTo>
                    <a:pt x="427990" y="70370"/>
                    <a:pt x="483870" y="105930"/>
                    <a:pt x="510540" y="94500"/>
                  </a:cubicBezTo>
                  <a:cubicBezTo>
                    <a:pt x="534670" y="85610"/>
                    <a:pt x="538480" y="41160"/>
                    <a:pt x="560070" y="32270"/>
                  </a:cubicBezTo>
                  <a:cubicBezTo>
                    <a:pt x="582930" y="23380"/>
                    <a:pt x="624840" y="29730"/>
                    <a:pt x="643890" y="42430"/>
                  </a:cubicBezTo>
                  <a:cubicBezTo>
                    <a:pt x="661670" y="53860"/>
                    <a:pt x="665480" y="90690"/>
                    <a:pt x="678180" y="100850"/>
                  </a:cubicBezTo>
                  <a:cubicBezTo>
                    <a:pt x="684530" y="105930"/>
                    <a:pt x="693420" y="109740"/>
                    <a:pt x="699770" y="107200"/>
                  </a:cubicBezTo>
                  <a:cubicBezTo>
                    <a:pt x="708660" y="105930"/>
                    <a:pt x="715010" y="90690"/>
                    <a:pt x="726440" y="80530"/>
                  </a:cubicBezTo>
                  <a:cubicBezTo>
                    <a:pt x="742950" y="65290"/>
                    <a:pt x="765810" y="33540"/>
                    <a:pt x="793750" y="27190"/>
                  </a:cubicBezTo>
                  <a:cubicBezTo>
                    <a:pt x="825500" y="20840"/>
                    <a:pt x="882650" y="33540"/>
                    <a:pt x="908050" y="55130"/>
                  </a:cubicBezTo>
                  <a:cubicBezTo>
                    <a:pt x="930910" y="76720"/>
                    <a:pt x="938530" y="123710"/>
                    <a:pt x="943610" y="152920"/>
                  </a:cubicBezTo>
                  <a:cubicBezTo>
                    <a:pt x="948690" y="177050"/>
                    <a:pt x="937260" y="212610"/>
                    <a:pt x="946150" y="220230"/>
                  </a:cubicBezTo>
                  <a:cubicBezTo>
                    <a:pt x="952500" y="225310"/>
                    <a:pt x="963930" y="216420"/>
                    <a:pt x="979170" y="212610"/>
                  </a:cubicBezTo>
                  <a:cubicBezTo>
                    <a:pt x="1012190" y="206260"/>
                    <a:pt x="1092200" y="188480"/>
                    <a:pt x="1135380" y="180860"/>
                  </a:cubicBezTo>
                  <a:cubicBezTo>
                    <a:pt x="1164590" y="174510"/>
                    <a:pt x="1197610" y="168160"/>
                    <a:pt x="1210310" y="164350"/>
                  </a:cubicBezTo>
                  <a:cubicBezTo>
                    <a:pt x="1214120" y="164350"/>
                    <a:pt x="1215390" y="163080"/>
                    <a:pt x="1217930" y="161810"/>
                  </a:cubicBezTo>
                  <a:cubicBezTo>
                    <a:pt x="1221740" y="161810"/>
                    <a:pt x="1224280" y="161810"/>
                    <a:pt x="1228090" y="161810"/>
                  </a:cubicBezTo>
                  <a:cubicBezTo>
                    <a:pt x="1231900" y="160540"/>
                    <a:pt x="1234440" y="161810"/>
                    <a:pt x="1238250" y="161810"/>
                  </a:cubicBezTo>
                  <a:cubicBezTo>
                    <a:pt x="1242060" y="161810"/>
                    <a:pt x="1248410" y="161810"/>
                    <a:pt x="1248410" y="161810"/>
                  </a:cubicBezTo>
                  <a:cubicBezTo>
                    <a:pt x="1248410" y="161810"/>
                    <a:pt x="1254760" y="163080"/>
                    <a:pt x="1258570" y="164350"/>
                  </a:cubicBezTo>
                  <a:cubicBezTo>
                    <a:pt x="1261110" y="164350"/>
                    <a:pt x="1267460" y="166890"/>
                    <a:pt x="1268730" y="166890"/>
                  </a:cubicBezTo>
                  <a:cubicBezTo>
                    <a:pt x="1268730" y="166890"/>
                    <a:pt x="1275080" y="169430"/>
                    <a:pt x="1277620" y="171970"/>
                  </a:cubicBezTo>
                  <a:cubicBezTo>
                    <a:pt x="1278890" y="173240"/>
                    <a:pt x="1280160" y="174510"/>
                    <a:pt x="1283970" y="174510"/>
                  </a:cubicBezTo>
                  <a:cubicBezTo>
                    <a:pt x="1289050" y="174510"/>
                    <a:pt x="1311910" y="156730"/>
                    <a:pt x="1311910" y="156730"/>
                  </a:cubicBezTo>
                  <a:cubicBezTo>
                    <a:pt x="1311910" y="155460"/>
                    <a:pt x="1310640" y="149110"/>
                    <a:pt x="1309370" y="146570"/>
                  </a:cubicBezTo>
                  <a:cubicBezTo>
                    <a:pt x="1308100" y="142760"/>
                    <a:pt x="1306830" y="136410"/>
                    <a:pt x="1306830" y="136410"/>
                  </a:cubicBezTo>
                  <a:cubicBezTo>
                    <a:pt x="1306830" y="135140"/>
                    <a:pt x="1306830" y="128790"/>
                    <a:pt x="1306830" y="124980"/>
                  </a:cubicBezTo>
                  <a:cubicBezTo>
                    <a:pt x="1306830" y="122440"/>
                    <a:pt x="1306830" y="114820"/>
                    <a:pt x="1306830" y="114820"/>
                  </a:cubicBezTo>
                  <a:cubicBezTo>
                    <a:pt x="1306830" y="114820"/>
                    <a:pt x="1309370" y="108470"/>
                    <a:pt x="1309370" y="104660"/>
                  </a:cubicBezTo>
                  <a:cubicBezTo>
                    <a:pt x="1310640" y="102120"/>
                    <a:pt x="1311910" y="94500"/>
                    <a:pt x="1311910" y="94500"/>
                  </a:cubicBezTo>
                  <a:cubicBezTo>
                    <a:pt x="1311910" y="94500"/>
                    <a:pt x="1315720" y="88150"/>
                    <a:pt x="1316990" y="85610"/>
                  </a:cubicBezTo>
                  <a:cubicBezTo>
                    <a:pt x="1319530" y="83070"/>
                    <a:pt x="1322070" y="76720"/>
                    <a:pt x="1322070" y="76720"/>
                  </a:cubicBezTo>
                  <a:cubicBezTo>
                    <a:pt x="1322070" y="76720"/>
                    <a:pt x="1327150" y="71640"/>
                    <a:pt x="1329690" y="69100"/>
                  </a:cubicBezTo>
                  <a:cubicBezTo>
                    <a:pt x="1332230" y="66560"/>
                    <a:pt x="1336040" y="61480"/>
                    <a:pt x="1336040" y="61480"/>
                  </a:cubicBezTo>
                  <a:cubicBezTo>
                    <a:pt x="1336040" y="61480"/>
                    <a:pt x="1342390" y="57670"/>
                    <a:pt x="1344930" y="55130"/>
                  </a:cubicBezTo>
                  <a:cubicBezTo>
                    <a:pt x="1347470" y="53860"/>
                    <a:pt x="1353820" y="50050"/>
                    <a:pt x="1353820" y="50050"/>
                  </a:cubicBezTo>
                  <a:cubicBezTo>
                    <a:pt x="1353820" y="48780"/>
                    <a:pt x="1360170" y="47510"/>
                    <a:pt x="1363980" y="46240"/>
                  </a:cubicBezTo>
                  <a:cubicBezTo>
                    <a:pt x="1366520" y="44970"/>
                    <a:pt x="1372870" y="42430"/>
                    <a:pt x="1372870" y="42430"/>
                  </a:cubicBezTo>
                  <a:cubicBezTo>
                    <a:pt x="1374140" y="42430"/>
                    <a:pt x="1380490" y="41160"/>
                    <a:pt x="1384300" y="41160"/>
                  </a:cubicBezTo>
                  <a:cubicBezTo>
                    <a:pt x="1386840" y="41160"/>
                    <a:pt x="1394460" y="39890"/>
                    <a:pt x="1394460" y="39890"/>
                  </a:cubicBezTo>
                  <a:cubicBezTo>
                    <a:pt x="1394460" y="39890"/>
                    <a:pt x="1400810" y="41160"/>
                    <a:pt x="1404620" y="41160"/>
                  </a:cubicBezTo>
                  <a:cubicBezTo>
                    <a:pt x="1408430" y="42430"/>
                    <a:pt x="1414780" y="42430"/>
                    <a:pt x="1414780" y="42430"/>
                  </a:cubicBezTo>
                  <a:cubicBezTo>
                    <a:pt x="1414780" y="42430"/>
                    <a:pt x="1421130" y="44970"/>
                    <a:pt x="1424940" y="46240"/>
                  </a:cubicBezTo>
                  <a:cubicBezTo>
                    <a:pt x="1427480" y="47510"/>
                    <a:pt x="1433830" y="50050"/>
                    <a:pt x="1433830" y="50050"/>
                  </a:cubicBezTo>
                  <a:cubicBezTo>
                    <a:pt x="1433830" y="50050"/>
                    <a:pt x="1440180" y="55130"/>
                    <a:pt x="1442720" y="56400"/>
                  </a:cubicBezTo>
                  <a:cubicBezTo>
                    <a:pt x="1445260" y="58940"/>
                    <a:pt x="1451610" y="62750"/>
                    <a:pt x="1451610" y="62750"/>
                  </a:cubicBezTo>
                  <a:cubicBezTo>
                    <a:pt x="1451610" y="62750"/>
                    <a:pt x="1455420" y="67830"/>
                    <a:pt x="1457960" y="70370"/>
                  </a:cubicBezTo>
                  <a:cubicBezTo>
                    <a:pt x="1460500" y="72910"/>
                    <a:pt x="1464310" y="77990"/>
                    <a:pt x="1465580" y="77990"/>
                  </a:cubicBezTo>
                  <a:cubicBezTo>
                    <a:pt x="1465580" y="79260"/>
                    <a:pt x="1468120" y="84340"/>
                    <a:pt x="1469390" y="88150"/>
                  </a:cubicBezTo>
                  <a:cubicBezTo>
                    <a:pt x="1470660" y="90690"/>
                    <a:pt x="1471930" y="94500"/>
                    <a:pt x="1474470" y="97040"/>
                  </a:cubicBezTo>
                  <a:cubicBezTo>
                    <a:pt x="1475740" y="99580"/>
                    <a:pt x="1479550" y="100850"/>
                    <a:pt x="1480820" y="103390"/>
                  </a:cubicBezTo>
                  <a:cubicBezTo>
                    <a:pt x="1484630" y="111010"/>
                    <a:pt x="1484630" y="133870"/>
                    <a:pt x="1487170" y="136410"/>
                  </a:cubicBezTo>
                  <a:cubicBezTo>
                    <a:pt x="1487170" y="136410"/>
                    <a:pt x="1488440" y="136410"/>
                    <a:pt x="1488440" y="136410"/>
                  </a:cubicBezTo>
                  <a:cubicBezTo>
                    <a:pt x="1488440" y="136410"/>
                    <a:pt x="1494790" y="140220"/>
                    <a:pt x="1497330" y="141490"/>
                  </a:cubicBezTo>
                  <a:cubicBezTo>
                    <a:pt x="1501140" y="142760"/>
                    <a:pt x="1506220" y="146570"/>
                    <a:pt x="1507490" y="146570"/>
                  </a:cubicBezTo>
                  <a:cubicBezTo>
                    <a:pt x="1507490" y="146570"/>
                    <a:pt x="1512570" y="150380"/>
                    <a:pt x="1515110" y="152920"/>
                  </a:cubicBezTo>
                  <a:cubicBezTo>
                    <a:pt x="1517650" y="155460"/>
                    <a:pt x="1522730" y="159270"/>
                    <a:pt x="1522730" y="160540"/>
                  </a:cubicBezTo>
                  <a:cubicBezTo>
                    <a:pt x="1522730" y="160540"/>
                    <a:pt x="1526540" y="165620"/>
                    <a:pt x="1527810" y="168160"/>
                  </a:cubicBezTo>
                  <a:cubicBezTo>
                    <a:pt x="1530350" y="171970"/>
                    <a:pt x="1534160" y="177050"/>
                    <a:pt x="1534160" y="177050"/>
                  </a:cubicBezTo>
                  <a:cubicBezTo>
                    <a:pt x="1534160" y="177050"/>
                    <a:pt x="1536700" y="183400"/>
                    <a:pt x="1537970" y="187210"/>
                  </a:cubicBezTo>
                  <a:cubicBezTo>
                    <a:pt x="1539240" y="189750"/>
                    <a:pt x="1541780" y="196100"/>
                    <a:pt x="1541780" y="196100"/>
                  </a:cubicBezTo>
                  <a:cubicBezTo>
                    <a:pt x="1541780" y="196100"/>
                    <a:pt x="1541780" y="203720"/>
                    <a:pt x="1543050" y="206260"/>
                  </a:cubicBezTo>
                  <a:cubicBezTo>
                    <a:pt x="1543050" y="210070"/>
                    <a:pt x="1543050" y="216420"/>
                    <a:pt x="1543050" y="216420"/>
                  </a:cubicBezTo>
                  <a:cubicBezTo>
                    <a:pt x="1543050" y="216420"/>
                    <a:pt x="1543050" y="230390"/>
                    <a:pt x="1543050" y="239280"/>
                  </a:cubicBezTo>
                  <a:cubicBezTo>
                    <a:pt x="1543050" y="253250"/>
                    <a:pt x="1537970" y="290080"/>
                    <a:pt x="1541780" y="295160"/>
                  </a:cubicBezTo>
                  <a:cubicBezTo>
                    <a:pt x="1541780" y="296430"/>
                    <a:pt x="1543050" y="295160"/>
                    <a:pt x="1545590" y="295160"/>
                  </a:cubicBezTo>
                  <a:cubicBezTo>
                    <a:pt x="1554480" y="301510"/>
                    <a:pt x="1600200" y="361200"/>
                    <a:pt x="1604010" y="392950"/>
                  </a:cubicBezTo>
                  <a:cubicBezTo>
                    <a:pt x="1606550" y="419620"/>
                    <a:pt x="1592580" y="448830"/>
                    <a:pt x="1577340" y="470420"/>
                  </a:cubicBezTo>
                  <a:cubicBezTo>
                    <a:pt x="1562100" y="492010"/>
                    <a:pt x="1537970" y="508520"/>
                    <a:pt x="1513840" y="521220"/>
                  </a:cubicBezTo>
                  <a:cubicBezTo>
                    <a:pt x="1490980" y="533920"/>
                    <a:pt x="1463040" y="539000"/>
                    <a:pt x="1436370" y="546620"/>
                  </a:cubicBezTo>
                  <a:cubicBezTo>
                    <a:pt x="1409700" y="555510"/>
                    <a:pt x="1361440" y="569480"/>
                    <a:pt x="1352550" y="572020"/>
                  </a:cubicBezTo>
                  <a:cubicBezTo>
                    <a:pt x="1350010" y="572020"/>
                    <a:pt x="1350010" y="572020"/>
                    <a:pt x="1348740" y="573290"/>
                  </a:cubicBezTo>
                  <a:cubicBezTo>
                    <a:pt x="1346200" y="575830"/>
                    <a:pt x="1346200" y="589800"/>
                    <a:pt x="1338580" y="597420"/>
                  </a:cubicBezTo>
                  <a:cubicBezTo>
                    <a:pt x="1319530" y="611390"/>
                    <a:pt x="1252220" y="619010"/>
                    <a:pt x="1216660" y="622820"/>
                  </a:cubicBezTo>
                  <a:cubicBezTo>
                    <a:pt x="1187450" y="625360"/>
                    <a:pt x="1139190" y="621550"/>
                    <a:pt x="1139190" y="621550"/>
                  </a:cubicBezTo>
                  <a:cubicBezTo>
                    <a:pt x="1139190" y="621550"/>
                    <a:pt x="1131570" y="621550"/>
                    <a:pt x="1129030" y="621550"/>
                  </a:cubicBezTo>
                  <a:cubicBezTo>
                    <a:pt x="1125220" y="621550"/>
                    <a:pt x="1118870" y="621550"/>
                    <a:pt x="1118870" y="621550"/>
                  </a:cubicBezTo>
                  <a:cubicBezTo>
                    <a:pt x="1117600" y="621550"/>
                    <a:pt x="1111250" y="619010"/>
                    <a:pt x="1108710" y="617740"/>
                  </a:cubicBezTo>
                  <a:cubicBezTo>
                    <a:pt x="1104900" y="617740"/>
                    <a:pt x="1098550" y="615200"/>
                    <a:pt x="1098550" y="615200"/>
                  </a:cubicBezTo>
                  <a:cubicBezTo>
                    <a:pt x="1098550" y="615200"/>
                    <a:pt x="1092200" y="612660"/>
                    <a:pt x="1089660" y="610120"/>
                  </a:cubicBezTo>
                  <a:cubicBezTo>
                    <a:pt x="1087120" y="608850"/>
                    <a:pt x="1080770" y="605040"/>
                    <a:pt x="1080770" y="605040"/>
                  </a:cubicBezTo>
                  <a:cubicBezTo>
                    <a:pt x="1080770" y="605040"/>
                    <a:pt x="1075690" y="601230"/>
                    <a:pt x="1073150" y="598690"/>
                  </a:cubicBezTo>
                  <a:cubicBezTo>
                    <a:pt x="1070610" y="596150"/>
                    <a:pt x="1065530" y="591070"/>
                    <a:pt x="1065530" y="591070"/>
                  </a:cubicBezTo>
                  <a:cubicBezTo>
                    <a:pt x="1065530" y="591070"/>
                    <a:pt x="1061720" y="585990"/>
                    <a:pt x="1060450" y="582180"/>
                  </a:cubicBezTo>
                  <a:cubicBezTo>
                    <a:pt x="1057910" y="579640"/>
                    <a:pt x="1054100" y="574560"/>
                    <a:pt x="1054100" y="574560"/>
                  </a:cubicBezTo>
                  <a:cubicBezTo>
                    <a:pt x="1054100" y="574560"/>
                    <a:pt x="1051560" y="568210"/>
                    <a:pt x="1051560" y="564400"/>
                  </a:cubicBezTo>
                  <a:cubicBezTo>
                    <a:pt x="1050290" y="560590"/>
                    <a:pt x="1047750" y="554240"/>
                    <a:pt x="1047750" y="554240"/>
                  </a:cubicBezTo>
                  <a:cubicBezTo>
                    <a:pt x="1047750" y="554240"/>
                    <a:pt x="1046480" y="545350"/>
                    <a:pt x="1046480" y="544080"/>
                  </a:cubicBezTo>
                  <a:cubicBezTo>
                    <a:pt x="1046480" y="544080"/>
                    <a:pt x="1046480" y="542810"/>
                    <a:pt x="1043940" y="542810"/>
                  </a:cubicBezTo>
                  <a:cubicBezTo>
                    <a:pt x="1037590" y="539000"/>
                    <a:pt x="986790" y="525030"/>
                    <a:pt x="966470" y="522490"/>
                  </a:cubicBezTo>
                  <a:cubicBezTo>
                    <a:pt x="955040" y="519950"/>
                    <a:pt x="949960" y="518680"/>
                    <a:pt x="937260" y="518680"/>
                  </a:cubicBezTo>
                  <a:cubicBezTo>
                    <a:pt x="913130" y="521220"/>
                    <a:pt x="872490" y="537730"/>
                    <a:pt x="836930" y="541540"/>
                  </a:cubicBezTo>
                  <a:cubicBezTo>
                    <a:pt x="801370" y="546620"/>
                    <a:pt x="758190" y="547890"/>
                    <a:pt x="722630" y="542810"/>
                  </a:cubicBezTo>
                  <a:cubicBezTo>
                    <a:pt x="690880" y="537730"/>
                    <a:pt x="635000" y="513600"/>
                    <a:pt x="633730" y="514870"/>
                  </a:cubicBezTo>
                  <a:cubicBezTo>
                    <a:pt x="633730" y="514870"/>
                    <a:pt x="628650" y="518680"/>
                    <a:pt x="626110" y="519950"/>
                  </a:cubicBezTo>
                  <a:cubicBezTo>
                    <a:pt x="622300" y="522490"/>
                    <a:pt x="617220" y="526300"/>
                    <a:pt x="617220" y="526300"/>
                  </a:cubicBezTo>
                  <a:cubicBezTo>
                    <a:pt x="617220" y="526300"/>
                    <a:pt x="610870" y="528840"/>
                    <a:pt x="607060" y="530110"/>
                  </a:cubicBezTo>
                  <a:cubicBezTo>
                    <a:pt x="604520" y="531380"/>
                    <a:pt x="598170" y="533920"/>
                    <a:pt x="598170" y="533920"/>
                  </a:cubicBezTo>
                  <a:cubicBezTo>
                    <a:pt x="598170" y="533920"/>
                    <a:pt x="598170" y="533920"/>
                    <a:pt x="596900" y="533920"/>
                  </a:cubicBezTo>
                  <a:cubicBezTo>
                    <a:pt x="596900" y="533920"/>
                    <a:pt x="590550" y="535190"/>
                    <a:pt x="586740" y="535190"/>
                  </a:cubicBezTo>
                  <a:cubicBezTo>
                    <a:pt x="584200" y="536460"/>
                    <a:pt x="576580" y="537730"/>
                    <a:pt x="576580" y="537730"/>
                  </a:cubicBezTo>
                  <a:cubicBezTo>
                    <a:pt x="576580" y="537730"/>
                    <a:pt x="570230" y="536460"/>
                    <a:pt x="566420" y="536460"/>
                  </a:cubicBezTo>
                  <a:cubicBezTo>
                    <a:pt x="562610" y="535190"/>
                    <a:pt x="556260" y="535190"/>
                    <a:pt x="556260" y="535190"/>
                  </a:cubicBezTo>
                  <a:cubicBezTo>
                    <a:pt x="556260" y="535190"/>
                    <a:pt x="548640" y="532650"/>
                    <a:pt x="546100" y="531380"/>
                  </a:cubicBezTo>
                  <a:cubicBezTo>
                    <a:pt x="542290" y="530110"/>
                    <a:pt x="535940" y="527570"/>
                    <a:pt x="535940" y="527570"/>
                  </a:cubicBezTo>
                  <a:cubicBezTo>
                    <a:pt x="535940" y="527570"/>
                    <a:pt x="529590" y="523760"/>
                    <a:pt x="527050" y="522490"/>
                  </a:cubicBezTo>
                  <a:cubicBezTo>
                    <a:pt x="524510" y="519950"/>
                    <a:pt x="518160" y="516140"/>
                    <a:pt x="518160" y="516140"/>
                  </a:cubicBezTo>
                  <a:cubicBezTo>
                    <a:pt x="518160" y="516140"/>
                    <a:pt x="513080" y="511060"/>
                    <a:pt x="511810" y="508520"/>
                  </a:cubicBezTo>
                  <a:cubicBezTo>
                    <a:pt x="509270" y="505980"/>
                    <a:pt x="504190" y="500900"/>
                    <a:pt x="504190" y="500900"/>
                  </a:cubicBezTo>
                  <a:cubicBezTo>
                    <a:pt x="504190" y="500900"/>
                    <a:pt x="500380" y="494550"/>
                    <a:pt x="499110" y="492010"/>
                  </a:cubicBezTo>
                  <a:cubicBezTo>
                    <a:pt x="497840" y="488200"/>
                    <a:pt x="494030" y="483120"/>
                    <a:pt x="494030" y="481850"/>
                  </a:cubicBezTo>
                  <a:cubicBezTo>
                    <a:pt x="494030" y="481850"/>
                    <a:pt x="491490" y="474230"/>
                    <a:pt x="491490" y="471690"/>
                  </a:cubicBezTo>
                  <a:cubicBezTo>
                    <a:pt x="491490" y="471690"/>
                    <a:pt x="491490" y="470420"/>
                    <a:pt x="491490" y="470420"/>
                  </a:cubicBezTo>
                  <a:cubicBezTo>
                    <a:pt x="488950" y="469150"/>
                    <a:pt x="482600" y="478040"/>
                    <a:pt x="474980" y="478040"/>
                  </a:cubicBezTo>
                  <a:cubicBezTo>
                    <a:pt x="458470" y="478040"/>
                    <a:pt x="402590" y="443750"/>
                    <a:pt x="393700" y="447560"/>
                  </a:cubicBezTo>
                  <a:cubicBezTo>
                    <a:pt x="391160" y="448830"/>
                    <a:pt x="389890" y="455180"/>
                    <a:pt x="389890" y="456450"/>
                  </a:cubicBezTo>
                  <a:cubicBezTo>
                    <a:pt x="389890" y="456450"/>
                    <a:pt x="386080" y="461530"/>
                    <a:pt x="384810" y="464070"/>
                  </a:cubicBezTo>
                  <a:cubicBezTo>
                    <a:pt x="382270" y="467880"/>
                    <a:pt x="378460" y="472960"/>
                    <a:pt x="378460" y="472960"/>
                  </a:cubicBezTo>
                  <a:cubicBezTo>
                    <a:pt x="378460" y="472960"/>
                    <a:pt x="373380" y="478040"/>
                    <a:pt x="370840" y="479310"/>
                  </a:cubicBezTo>
                  <a:cubicBezTo>
                    <a:pt x="368300" y="481850"/>
                    <a:pt x="363220" y="486930"/>
                    <a:pt x="363220" y="486930"/>
                  </a:cubicBezTo>
                  <a:cubicBezTo>
                    <a:pt x="363220" y="486930"/>
                    <a:pt x="356870" y="489470"/>
                    <a:pt x="353060" y="492010"/>
                  </a:cubicBezTo>
                  <a:cubicBezTo>
                    <a:pt x="350520" y="493280"/>
                    <a:pt x="344170" y="495820"/>
                    <a:pt x="344170" y="497090"/>
                  </a:cubicBezTo>
                  <a:cubicBezTo>
                    <a:pt x="344170" y="497090"/>
                    <a:pt x="337820" y="498360"/>
                    <a:pt x="334010" y="498360"/>
                  </a:cubicBezTo>
                  <a:cubicBezTo>
                    <a:pt x="330200" y="499630"/>
                    <a:pt x="323850" y="500900"/>
                    <a:pt x="323850" y="500900"/>
                  </a:cubicBezTo>
                  <a:cubicBezTo>
                    <a:pt x="323850" y="500900"/>
                    <a:pt x="317500" y="500900"/>
                    <a:pt x="313690" y="500900"/>
                  </a:cubicBezTo>
                  <a:cubicBezTo>
                    <a:pt x="309880" y="500900"/>
                    <a:pt x="303530" y="500900"/>
                    <a:pt x="303530" y="500900"/>
                  </a:cubicBezTo>
                  <a:cubicBezTo>
                    <a:pt x="302260" y="500900"/>
                    <a:pt x="295910" y="499630"/>
                    <a:pt x="293370" y="498360"/>
                  </a:cubicBezTo>
                  <a:cubicBezTo>
                    <a:pt x="289560" y="498360"/>
                    <a:pt x="283210" y="495820"/>
                    <a:pt x="283210" y="495820"/>
                  </a:cubicBezTo>
                  <a:cubicBezTo>
                    <a:pt x="281940" y="495820"/>
                    <a:pt x="276860" y="493280"/>
                    <a:pt x="273050" y="490740"/>
                  </a:cubicBezTo>
                  <a:cubicBezTo>
                    <a:pt x="270510" y="489470"/>
                    <a:pt x="264160" y="486930"/>
                    <a:pt x="264160" y="486930"/>
                  </a:cubicBezTo>
                  <a:cubicBezTo>
                    <a:pt x="264160" y="486930"/>
                    <a:pt x="259080" y="481850"/>
                    <a:pt x="256540" y="479310"/>
                  </a:cubicBezTo>
                  <a:cubicBezTo>
                    <a:pt x="254000" y="476770"/>
                    <a:pt x="248920" y="472960"/>
                    <a:pt x="248920" y="472960"/>
                  </a:cubicBezTo>
                  <a:cubicBezTo>
                    <a:pt x="248920" y="472960"/>
                    <a:pt x="245110" y="466610"/>
                    <a:pt x="242570" y="464070"/>
                  </a:cubicBezTo>
                  <a:cubicBezTo>
                    <a:pt x="241300" y="461530"/>
                    <a:pt x="238760" y="457720"/>
                    <a:pt x="238760" y="457720"/>
                  </a:cubicBezTo>
                  <a:cubicBezTo>
                    <a:pt x="238760" y="457720"/>
                    <a:pt x="238760" y="461530"/>
                    <a:pt x="238760" y="461530"/>
                  </a:cubicBezTo>
                  <a:cubicBezTo>
                    <a:pt x="238760" y="461530"/>
                    <a:pt x="236220" y="467880"/>
                    <a:pt x="234950" y="471690"/>
                  </a:cubicBezTo>
                  <a:cubicBezTo>
                    <a:pt x="233680" y="475500"/>
                    <a:pt x="231140" y="481850"/>
                    <a:pt x="231140" y="481850"/>
                  </a:cubicBezTo>
                  <a:cubicBezTo>
                    <a:pt x="231140" y="481850"/>
                    <a:pt x="227330" y="486930"/>
                    <a:pt x="224790" y="490740"/>
                  </a:cubicBezTo>
                  <a:cubicBezTo>
                    <a:pt x="222250" y="493280"/>
                    <a:pt x="218440" y="498360"/>
                    <a:pt x="218440" y="498360"/>
                  </a:cubicBezTo>
                  <a:cubicBezTo>
                    <a:pt x="218440" y="498360"/>
                    <a:pt x="213360" y="503440"/>
                    <a:pt x="210820" y="505980"/>
                  </a:cubicBezTo>
                  <a:cubicBezTo>
                    <a:pt x="208280" y="508520"/>
                    <a:pt x="203200" y="512330"/>
                    <a:pt x="203200" y="512330"/>
                  </a:cubicBezTo>
                  <a:cubicBezTo>
                    <a:pt x="203200" y="512330"/>
                    <a:pt x="196850" y="516140"/>
                    <a:pt x="194310" y="517410"/>
                  </a:cubicBezTo>
                  <a:cubicBezTo>
                    <a:pt x="190500" y="518680"/>
                    <a:pt x="185420" y="522490"/>
                    <a:pt x="185420" y="522490"/>
                  </a:cubicBezTo>
                  <a:cubicBezTo>
                    <a:pt x="184150" y="522490"/>
                    <a:pt x="177800" y="523760"/>
                    <a:pt x="175260" y="525030"/>
                  </a:cubicBezTo>
                  <a:cubicBezTo>
                    <a:pt x="171450" y="525030"/>
                    <a:pt x="165100" y="527570"/>
                    <a:pt x="165100" y="527570"/>
                  </a:cubicBezTo>
                  <a:cubicBezTo>
                    <a:pt x="163830" y="527570"/>
                    <a:pt x="157480" y="527570"/>
                    <a:pt x="153670" y="527570"/>
                  </a:cubicBezTo>
                  <a:cubicBezTo>
                    <a:pt x="151130" y="527570"/>
                    <a:pt x="143510" y="527570"/>
                    <a:pt x="143510" y="527570"/>
                  </a:cubicBezTo>
                  <a:cubicBezTo>
                    <a:pt x="143510" y="527570"/>
                    <a:pt x="137160" y="525030"/>
                    <a:pt x="133350" y="525030"/>
                  </a:cubicBezTo>
                  <a:cubicBezTo>
                    <a:pt x="129540" y="523760"/>
                    <a:pt x="123190" y="522490"/>
                    <a:pt x="123190" y="522490"/>
                  </a:cubicBezTo>
                  <a:cubicBezTo>
                    <a:pt x="123190" y="522490"/>
                    <a:pt x="116840" y="518680"/>
                    <a:pt x="114300" y="517410"/>
                  </a:cubicBezTo>
                  <a:cubicBezTo>
                    <a:pt x="110490" y="516140"/>
                    <a:pt x="105410" y="512330"/>
                    <a:pt x="105410" y="512330"/>
                  </a:cubicBezTo>
                  <a:cubicBezTo>
                    <a:pt x="104140" y="512330"/>
                    <a:pt x="97790" y="505980"/>
                    <a:pt x="96520" y="505980"/>
                  </a:cubicBezTo>
                  <a:cubicBezTo>
                    <a:pt x="96520" y="504710"/>
                    <a:pt x="92710" y="507250"/>
                    <a:pt x="92710" y="507250"/>
                  </a:cubicBezTo>
                  <a:cubicBezTo>
                    <a:pt x="92710" y="507250"/>
                    <a:pt x="86360" y="507250"/>
                    <a:pt x="82550" y="507250"/>
                  </a:cubicBezTo>
                  <a:cubicBezTo>
                    <a:pt x="80010" y="507250"/>
                    <a:pt x="73660" y="507250"/>
                    <a:pt x="73660" y="507250"/>
                  </a:cubicBezTo>
                  <a:cubicBezTo>
                    <a:pt x="72390" y="507250"/>
                    <a:pt x="67310" y="505980"/>
                    <a:pt x="63500" y="505980"/>
                  </a:cubicBezTo>
                  <a:cubicBezTo>
                    <a:pt x="60960" y="504710"/>
                    <a:pt x="54610" y="503440"/>
                    <a:pt x="54610" y="503440"/>
                  </a:cubicBezTo>
                  <a:cubicBezTo>
                    <a:pt x="54610" y="503440"/>
                    <a:pt x="48260" y="500900"/>
                    <a:pt x="45720" y="499630"/>
                  </a:cubicBezTo>
                  <a:cubicBezTo>
                    <a:pt x="43180" y="498360"/>
                    <a:pt x="36830" y="495820"/>
                    <a:pt x="36830" y="495820"/>
                  </a:cubicBezTo>
                  <a:cubicBezTo>
                    <a:pt x="36830" y="495820"/>
                    <a:pt x="31750" y="490740"/>
                    <a:pt x="29210" y="489470"/>
                  </a:cubicBezTo>
                  <a:cubicBezTo>
                    <a:pt x="26670" y="486930"/>
                    <a:pt x="21590" y="483120"/>
                    <a:pt x="21590" y="483120"/>
                  </a:cubicBezTo>
                  <a:cubicBezTo>
                    <a:pt x="21590" y="483120"/>
                    <a:pt x="17780" y="478040"/>
                    <a:pt x="16510" y="475500"/>
                  </a:cubicBezTo>
                  <a:cubicBezTo>
                    <a:pt x="13970" y="472960"/>
                    <a:pt x="10160" y="467880"/>
                    <a:pt x="10160" y="467880"/>
                  </a:cubicBezTo>
                  <a:cubicBezTo>
                    <a:pt x="10160" y="467880"/>
                    <a:pt x="7620" y="461530"/>
                    <a:pt x="6350" y="458990"/>
                  </a:cubicBezTo>
                  <a:cubicBezTo>
                    <a:pt x="5080" y="456450"/>
                    <a:pt x="3810" y="450100"/>
                    <a:pt x="2540" y="450100"/>
                  </a:cubicBezTo>
                  <a:cubicBezTo>
                    <a:pt x="2540" y="450100"/>
                    <a:pt x="2540" y="443750"/>
                    <a:pt x="1270" y="439940"/>
                  </a:cubicBezTo>
                  <a:cubicBezTo>
                    <a:pt x="1270" y="437400"/>
                    <a:pt x="0" y="431050"/>
                    <a:pt x="0" y="431050"/>
                  </a:cubicBezTo>
                </a:path>
              </a:pathLst>
            </a:custGeom>
            <a:solidFill>
              <a:srgbClr val="010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9562148" y="6612255"/>
            <a:ext cx="505778" cy="208597"/>
            <a:chOff x="0" y="0"/>
            <a:chExt cx="674370" cy="27813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49530" y="52070"/>
              <a:ext cx="576394" cy="175524"/>
            </a:xfrm>
            <a:custGeom>
              <a:avLst/>
              <a:gdLst/>
              <a:ahLst/>
              <a:cxnLst/>
              <a:rect r="r" b="b" t="t" l="l"/>
              <a:pathLst>
                <a:path h="175524" w="576394">
                  <a:moveTo>
                    <a:pt x="78740" y="0"/>
                  </a:moveTo>
                  <a:cubicBezTo>
                    <a:pt x="430530" y="2540"/>
                    <a:pt x="488950" y="1270"/>
                    <a:pt x="524510" y="20320"/>
                  </a:cubicBezTo>
                  <a:cubicBezTo>
                    <a:pt x="548640" y="33020"/>
                    <a:pt x="567690" y="57150"/>
                    <a:pt x="574040" y="76200"/>
                  </a:cubicBezTo>
                  <a:cubicBezTo>
                    <a:pt x="579120" y="92710"/>
                    <a:pt x="575310" y="113030"/>
                    <a:pt x="568960" y="128270"/>
                  </a:cubicBezTo>
                  <a:cubicBezTo>
                    <a:pt x="562610" y="142240"/>
                    <a:pt x="549910" y="158750"/>
                    <a:pt x="534670" y="165100"/>
                  </a:cubicBezTo>
                  <a:cubicBezTo>
                    <a:pt x="515620" y="173990"/>
                    <a:pt x="477520" y="175260"/>
                    <a:pt x="458470" y="166370"/>
                  </a:cubicBezTo>
                  <a:cubicBezTo>
                    <a:pt x="443230" y="160020"/>
                    <a:pt x="429260" y="144780"/>
                    <a:pt x="422910" y="129540"/>
                  </a:cubicBezTo>
                  <a:cubicBezTo>
                    <a:pt x="415290" y="115570"/>
                    <a:pt x="412750" y="95250"/>
                    <a:pt x="416560" y="78740"/>
                  </a:cubicBezTo>
                  <a:cubicBezTo>
                    <a:pt x="419100" y="63500"/>
                    <a:pt x="430530" y="44450"/>
                    <a:pt x="441960" y="34290"/>
                  </a:cubicBezTo>
                  <a:cubicBezTo>
                    <a:pt x="454660" y="24130"/>
                    <a:pt x="472440" y="13970"/>
                    <a:pt x="490220" y="13970"/>
                  </a:cubicBezTo>
                  <a:cubicBezTo>
                    <a:pt x="510540" y="15240"/>
                    <a:pt x="544830" y="27940"/>
                    <a:pt x="558800" y="45720"/>
                  </a:cubicBezTo>
                  <a:cubicBezTo>
                    <a:pt x="572770" y="62230"/>
                    <a:pt x="576580" y="99060"/>
                    <a:pt x="572770" y="119380"/>
                  </a:cubicBezTo>
                  <a:cubicBezTo>
                    <a:pt x="567690" y="135890"/>
                    <a:pt x="554990" y="151130"/>
                    <a:pt x="541020" y="161290"/>
                  </a:cubicBezTo>
                  <a:cubicBezTo>
                    <a:pt x="528320" y="170180"/>
                    <a:pt x="513080" y="173990"/>
                    <a:pt x="492760" y="175260"/>
                  </a:cubicBezTo>
                  <a:cubicBezTo>
                    <a:pt x="461010" y="177800"/>
                    <a:pt x="421640" y="161290"/>
                    <a:pt x="370840" y="157480"/>
                  </a:cubicBezTo>
                  <a:cubicBezTo>
                    <a:pt x="288290" y="149860"/>
                    <a:pt x="95250" y="171450"/>
                    <a:pt x="41910" y="147320"/>
                  </a:cubicBezTo>
                  <a:cubicBezTo>
                    <a:pt x="20320" y="137160"/>
                    <a:pt x="12700" y="120650"/>
                    <a:pt x="5080" y="105410"/>
                  </a:cubicBezTo>
                  <a:cubicBezTo>
                    <a:pt x="0" y="93980"/>
                    <a:pt x="-1270" y="81280"/>
                    <a:pt x="1270" y="68580"/>
                  </a:cubicBezTo>
                  <a:cubicBezTo>
                    <a:pt x="3810" y="53340"/>
                    <a:pt x="13970" y="31750"/>
                    <a:pt x="26670" y="20320"/>
                  </a:cubicBezTo>
                  <a:cubicBezTo>
                    <a:pt x="39370" y="8890"/>
                    <a:pt x="78740" y="0"/>
                    <a:pt x="78740" y="0"/>
                  </a:cubicBezTo>
                </a:path>
              </a:pathLst>
            </a:custGeom>
            <a:solidFill>
              <a:srgbClr val="010E1E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108757" y="6496050"/>
            <a:ext cx="184785" cy="184785"/>
            <a:chOff x="0" y="0"/>
            <a:chExt cx="246380" cy="2463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47201" y="50746"/>
              <a:ext cx="145839" cy="148274"/>
            </a:xfrm>
            <a:custGeom>
              <a:avLst/>
              <a:gdLst/>
              <a:ahLst/>
              <a:cxnLst/>
              <a:rect r="r" b="b" t="t" l="l"/>
              <a:pathLst>
                <a:path h="148274" w="145839">
                  <a:moveTo>
                    <a:pt x="145839" y="52124"/>
                  </a:moveTo>
                  <a:cubicBezTo>
                    <a:pt x="142029" y="105464"/>
                    <a:pt x="122979" y="135944"/>
                    <a:pt x="103929" y="143564"/>
                  </a:cubicBezTo>
                  <a:cubicBezTo>
                    <a:pt x="84879" y="152454"/>
                    <a:pt x="50589" y="147374"/>
                    <a:pt x="32809" y="139754"/>
                  </a:cubicBezTo>
                  <a:cubicBezTo>
                    <a:pt x="21379" y="134674"/>
                    <a:pt x="12489" y="125784"/>
                    <a:pt x="7409" y="114354"/>
                  </a:cubicBezTo>
                  <a:cubicBezTo>
                    <a:pt x="-211" y="97844"/>
                    <a:pt x="-2751" y="61014"/>
                    <a:pt x="3599" y="43234"/>
                  </a:cubicBezTo>
                  <a:cubicBezTo>
                    <a:pt x="7409" y="30534"/>
                    <a:pt x="16299" y="21644"/>
                    <a:pt x="25189" y="15294"/>
                  </a:cubicBezTo>
                  <a:cubicBezTo>
                    <a:pt x="35349" y="7674"/>
                    <a:pt x="45509" y="54"/>
                    <a:pt x="59479" y="54"/>
                  </a:cubicBezTo>
                  <a:cubicBezTo>
                    <a:pt x="77259" y="-1216"/>
                    <a:pt x="126789" y="20374"/>
                    <a:pt x="126789" y="20374"/>
                  </a:cubicBezTo>
                </a:path>
              </a:pathLst>
            </a:custGeom>
            <a:solidFill>
              <a:srgbClr val="010E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8468856" y="6515140"/>
            <a:ext cx="2705695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1DB8D1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MEDIUM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3554730" y="5681684"/>
            <a:ext cx="800100" cy="527685"/>
            <a:chOff x="0" y="0"/>
            <a:chExt cx="1066800" cy="7035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50659" y="50357"/>
              <a:ext cx="965246" cy="602423"/>
            </a:xfrm>
            <a:custGeom>
              <a:avLst/>
              <a:gdLst/>
              <a:ahLst/>
              <a:cxnLst/>
              <a:rect r="r" b="b" t="t" l="l"/>
              <a:pathLst>
                <a:path h="602423" w="965246">
                  <a:moveTo>
                    <a:pt x="141" y="423353"/>
                  </a:moveTo>
                  <a:cubicBezTo>
                    <a:pt x="141" y="423353"/>
                    <a:pt x="-1129" y="382713"/>
                    <a:pt x="3951" y="358583"/>
                  </a:cubicBezTo>
                  <a:cubicBezTo>
                    <a:pt x="9031" y="326833"/>
                    <a:pt x="29351" y="287463"/>
                    <a:pt x="35701" y="254443"/>
                  </a:cubicBezTo>
                  <a:cubicBezTo>
                    <a:pt x="40781" y="225233"/>
                    <a:pt x="40781" y="171893"/>
                    <a:pt x="40781" y="171893"/>
                  </a:cubicBezTo>
                  <a:cubicBezTo>
                    <a:pt x="40781" y="171893"/>
                    <a:pt x="40781" y="164273"/>
                    <a:pt x="40781" y="160463"/>
                  </a:cubicBezTo>
                  <a:cubicBezTo>
                    <a:pt x="40781" y="157923"/>
                    <a:pt x="40781" y="150303"/>
                    <a:pt x="40781" y="150303"/>
                  </a:cubicBezTo>
                  <a:cubicBezTo>
                    <a:pt x="40781" y="150303"/>
                    <a:pt x="42051" y="143953"/>
                    <a:pt x="43321" y="140143"/>
                  </a:cubicBezTo>
                  <a:cubicBezTo>
                    <a:pt x="44591" y="137603"/>
                    <a:pt x="45861" y="129983"/>
                    <a:pt x="45861" y="129983"/>
                  </a:cubicBezTo>
                  <a:cubicBezTo>
                    <a:pt x="45861" y="129983"/>
                    <a:pt x="48401" y="123633"/>
                    <a:pt x="49671" y="121093"/>
                  </a:cubicBezTo>
                  <a:cubicBezTo>
                    <a:pt x="52211" y="118553"/>
                    <a:pt x="54751" y="112203"/>
                    <a:pt x="54751" y="112203"/>
                  </a:cubicBezTo>
                  <a:cubicBezTo>
                    <a:pt x="54751" y="112203"/>
                    <a:pt x="59831" y="107123"/>
                    <a:pt x="62371" y="104583"/>
                  </a:cubicBezTo>
                  <a:cubicBezTo>
                    <a:pt x="63641" y="100773"/>
                    <a:pt x="68721" y="95693"/>
                    <a:pt x="68721" y="95693"/>
                  </a:cubicBezTo>
                  <a:cubicBezTo>
                    <a:pt x="68721" y="95693"/>
                    <a:pt x="73801" y="91883"/>
                    <a:pt x="77611" y="90613"/>
                  </a:cubicBezTo>
                  <a:cubicBezTo>
                    <a:pt x="80151" y="88073"/>
                    <a:pt x="85231" y="84263"/>
                    <a:pt x="85231" y="84263"/>
                  </a:cubicBezTo>
                  <a:cubicBezTo>
                    <a:pt x="85231" y="84263"/>
                    <a:pt x="91581" y="81723"/>
                    <a:pt x="95391" y="80453"/>
                  </a:cubicBezTo>
                  <a:cubicBezTo>
                    <a:pt x="97931" y="79183"/>
                    <a:pt x="104281" y="76643"/>
                    <a:pt x="104281" y="76643"/>
                  </a:cubicBezTo>
                  <a:cubicBezTo>
                    <a:pt x="105551" y="76643"/>
                    <a:pt x="111901" y="75373"/>
                    <a:pt x="115711" y="75373"/>
                  </a:cubicBezTo>
                  <a:cubicBezTo>
                    <a:pt x="118251" y="74103"/>
                    <a:pt x="125871" y="74103"/>
                    <a:pt x="125871" y="74103"/>
                  </a:cubicBezTo>
                  <a:cubicBezTo>
                    <a:pt x="125871" y="74103"/>
                    <a:pt x="132221" y="74103"/>
                    <a:pt x="136031" y="75373"/>
                  </a:cubicBezTo>
                  <a:cubicBezTo>
                    <a:pt x="138571" y="75373"/>
                    <a:pt x="139841" y="76643"/>
                    <a:pt x="142381" y="75373"/>
                  </a:cubicBezTo>
                  <a:cubicBezTo>
                    <a:pt x="146191" y="72833"/>
                    <a:pt x="141111" y="48703"/>
                    <a:pt x="150001" y="38543"/>
                  </a:cubicBezTo>
                  <a:cubicBezTo>
                    <a:pt x="165241" y="20763"/>
                    <a:pt x="214771" y="2983"/>
                    <a:pt x="245251" y="443"/>
                  </a:cubicBezTo>
                  <a:cubicBezTo>
                    <a:pt x="273191" y="-2097"/>
                    <a:pt x="299861" y="6793"/>
                    <a:pt x="326531" y="14413"/>
                  </a:cubicBezTo>
                  <a:cubicBezTo>
                    <a:pt x="351931" y="20763"/>
                    <a:pt x="374791" y="33463"/>
                    <a:pt x="401461" y="42353"/>
                  </a:cubicBezTo>
                  <a:cubicBezTo>
                    <a:pt x="430671" y="51243"/>
                    <a:pt x="463691" y="58863"/>
                    <a:pt x="495441" y="65213"/>
                  </a:cubicBezTo>
                  <a:cubicBezTo>
                    <a:pt x="524651" y="72833"/>
                    <a:pt x="564021" y="80453"/>
                    <a:pt x="583071" y="84263"/>
                  </a:cubicBezTo>
                  <a:cubicBezTo>
                    <a:pt x="593231" y="85533"/>
                    <a:pt x="595771" y="86803"/>
                    <a:pt x="604661" y="88073"/>
                  </a:cubicBezTo>
                  <a:cubicBezTo>
                    <a:pt x="623711" y="88073"/>
                    <a:pt x="668161" y="76643"/>
                    <a:pt x="689751" y="77913"/>
                  </a:cubicBezTo>
                  <a:cubicBezTo>
                    <a:pt x="702451" y="77913"/>
                    <a:pt x="715151" y="86803"/>
                    <a:pt x="720231" y="84263"/>
                  </a:cubicBezTo>
                  <a:cubicBezTo>
                    <a:pt x="724041" y="82993"/>
                    <a:pt x="722771" y="77913"/>
                    <a:pt x="725311" y="72833"/>
                  </a:cubicBezTo>
                  <a:cubicBezTo>
                    <a:pt x="734201" y="61403"/>
                    <a:pt x="755791" y="23303"/>
                    <a:pt x="779921" y="18223"/>
                  </a:cubicBezTo>
                  <a:cubicBezTo>
                    <a:pt x="811671" y="10603"/>
                    <a:pt x="887871" y="36003"/>
                    <a:pt x="903111" y="57593"/>
                  </a:cubicBezTo>
                  <a:cubicBezTo>
                    <a:pt x="914541" y="72833"/>
                    <a:pt x="892951" y="104583"/>
                    <a:pt x="900571" y="116013"/>
                  </a:cubicBezTo>
                  <a:cubicBezTo>
                    <a:pt x="906921" y="124903"/>
                    <a:pt x="924701" y="119823"/>
                    <a:pt x="933591" y="128713"/>
                  </a:cubicBezTo>
                  <a:cubicBezTo>
                    <a:pt x="948831" y="145223"/>
                    <a:pt x="960261" y="189673"/>
                    <a:pt x="964071" y="220153"/>
                  </a:cubicBezTo>
                  <a:cubicBezTo>
                    <a:pt x="967881" y="248093"/>
                    <a:pt x="961531" y="276033"/>
                    <a:pt x="957721" y="306513"/>
                  </a:cubicBezTo>
                  <a:cubicBezTo>
                    <a:pt x="952641" y="342073"/>
                    <a:pt x="943751" y="383983"/>
                    <a:pt x="936131" y="417003"/>
                  </a:cubicBezTo>
                  <a:cubicBezTo>
                    <a:pt x="929781" y="444943"/>
                    <a:pt x="918351" y="474153"/>
                    <a:pt x="914541" y="493203"/>
                  </a:cubicBezTo>
                  <a:cubicBezTo>
                    <a:pt x="912001" y="504633"/>
                    <a:pt x="912001" y="521143"/>
                    <a:pt x="912001" y="521143"/>
                  </a:cubicBezTo>
                  <a:cubicBezTo>
                    <a:pt x="912001" y="521143"/>
                    <a:pt x="910731" y="528763"/>
                    <a:pt x="909461" y="531303"/>
                  </a:cubicBezTo>
                  <a:cubicBezTo>
                    <a:pt x="909461" y="535113"/>
                    <a:pt x="908191" y="542733"/>
                    <a:pt x="908191" y="542733"/>
                  </a:cubicBezTo>
                  <a:cubicBezTo>
                    <a:pt x="908191" y="542733"/>
                    <a:pt x="904381" y="549083"/>
                    <a:pt x="903111" y="551623"/>
                  </a:cubicBezTo>
                  <a:cubicBezTo>
                    <a:pt x="901841" y="555433"/>
                    <a:pt x="898031" y="561783"/>
                    <a:pt x="898031" y="561783"/>
                  </a:cubicBezTo>
                  <a:cubicBezTo>
                    <a:pt x="898031" y="561783"/>
                    <a:pt x="894221" y="566863"/>
                    <a:pt x="891681" y="569403"/>
                  </a:cubicBezTo>
                  <a:cubicBezTo>
                    <a:pt x="889141" y="571943"/>
                    <a:pt x="885331" y="578293"/>
                    <a:pt x="885331" y="578293"/>
                  </a:cubicBezTo>
                  <a:cubicBezTo>
                    <a:pt x="884061" y="578293"/>
                    <a:pt x="878981" y="582103"/>
                    <a:pt x="876441" y="584643"/>
                  </a:cubicBezTo>
                  <a:cubicBezTo>
                    <a:pt x="873901" y="585913"/>
                    <a:pt x="867551" y="590993"/>
                    <a:pt x="867551" y="590993"/>
                  </a:cubicBezTo>
                  <a:cubicBezTo>
                    <a:pt x="867551" y="590993"/>
                    <a:pt x="861201" y="593533"/>
                    <a:pt x="857391" y="594803"/>
                  </a:cubicBezTo>
                  <a:cubicBezTo>
                    <a:pt x="854851" y="596073"/>
                    <a:pt x="848501" y="598613"/>
                    <a:pt x="848501" y="598613"/>
                  </a:cubicBezTo>
                  <a:cubicBezTo>
                    <a:pt x="847231" y="598613"/>
                    <a:pt x="840881" y="599883"/>
                    <a:pt x="837071" y="599883"/>
                  </a:cubicBezTo>
                  <a:cubicBezTo>
                    <a:pt x="833261" y="601153"/>
                    <a:pt x="826911" y="602423"/>
                    <a:pt x="826911" y="602423"/>
                  </a:cubicBezTo>
                  <a:cubicBezTo>
                    <a:pt x="826911" y="602423"/>
                    <a:pt x="819291" y="601153"/>
                    <a:pt x="816751" y="601153"/>
                  </a:cubicBezTo>
                  <a:cubicBezTo>
                    <a:pt x="812941" y="601153"/>
                    <a:pt x="805321" y="599883"/>
                    <a:pt x="805321" y="599883"/>
                  </a:cubicBezTo>
                  <a:cubicBezTo>
                    <a:pt x="805321" y="599883"/>
                    <a:pt x="798971" y="597343"/>
                    <a:pt x="795161" y="596073"/>
                  </a:cubicBezTo>
                  <a:cubicBezTo>
                    <a:pt x="792621" y="594803"/>
                    <a:pt x="785001" y="593533"/>
                    <a:pt x="785001" y="593533"/>
                  </a:cubicBezTo>
                  <a:cubicBezTo>
                    <a:pt x="785001" y="593533"/>
                    <a:pt x="779921" y="589723"/>
                    <a:pt x="776111" y="587183"/>
                  </a:cubicBezTo>
                  <a:cubicBezTo>
                    <a:pt x="773571" y="584643"/>
                    <a:pt x="767221" y="582103"/>
                    <a:pt x="767221" y="580833"/>
                  </a:cubicBezTo>
                  <a:cubicBezTo>
                    <a:pt x="767221" y="580833"/>
                    <a:pt x="762141" y="575753"/>
                    <a:pt x="759601" y="573213"/>
                  </a:cubicBezTo>
                  <a:cubicBezTo>
                    <a:pt x="758331" y="570673"/>
                    <a:pt x="753251" y="565593"/>
                    <a:pt x="753251" y="565593"/>
                  </a:cubicBezTo>
                  <a:cubicBezTo>
                    <a:pt x="753251" y="565593"/>
                    <a:pt x="749441" y="559243"/>
                    <a:pt x="748171" y="556703"/>
                  </a:cubicBezTo>
                  <a:cubicBezTo>
                    <a:pt x="745631" y="554163"/>
                    <a:pt x="745631" y="550353"/>
                    <a:pt x="743091" y="549083"/>
                  </a:cubicBezTo>
                  <a:cubicBezTo>
                    <a:pt x="741821" y="547813"/>
                    <a:pt x="739281" y="547813"/>
                    <a:pt x="739281" y="547813"/>
                  </a:cubicBezTo>
                  <a:cubicBezTo>
                    <a:pt x="739281" y="547813"/>
                    <a:pt x="731661" y="542733"/>
                    <a:pt x="731661" y="542733"/>
                  </a:cubicBezTo>
                  <a:cubicBezTo>
                    <a:pt x="731661" y="542733"/>
                    <a:pt x="692291" y="546543"/>
                    <a:pt x="682131" y="546543"/>
                  </a:cubicBezTo>
                  <a:cubicBezTo>
                    <a:pt x="679591" y="545273"/>
                    <a:pt x="675781" y="544003"/>
                    <a:pt x="674511" y="544003"/>
                  </a:cubicBezTo>
                  <a:cubicBezTo>
                    <a:pt x="674511" y="545273"/>
                    <a:pt x="674511" y="545273"/>
                    <a:pt x="674511" y="546543"/>
                  </a:cubicBezTo>
                  <a:cubicBezTo>
                    <a:pt x="673241" y="547813"/>
                    <a:pt x="671971" y="552893"/>
                    <a:pt x="670701" y="555433"/>
                  </a:cubicBezTo>
                  <a:cubicBezTo>
                    <a:pt x="670701" y="556703"/>
                    <a:pt x="669431" y="557973"/>
                    <a:pt x="668161" y="559243"/>
                  </a:cubicBezTo>
                  <a:cubicBezTo>
                    <a:pt x="666891" y="560513"/>
                    <a:pt x="666891" y="561783"/>
                    <a:pt x="665621" y="563053"/>
                  </a:cubicBezTo>
                  <a:cubicBezTo>
                    <a:pt x="664351" y="565593"/>
                    <a:pt x="661811" y="568133"/>
                    <a:pt x="659271" y="570673"/>
                  </a:cubicBezTo>
                  <a:cubicBezTo>
                    <a:pt x="656731" y="571943"/>
                    <a:pt x="654191" y="577023"/>
                    <a:pt x="652921" y="578293"/>
                  </a:cubicBezTo>
                  <a:cubicBezTo>
                    <a:pt x="652921" y="578293"/>
                    <a:pt x="652921" y="577023"/>
                    <a:pt x="651651" y="578293"/>
                  </a:cubicBezTo>
                  <a:cubicBezTo>
                    <a:pt x="650381" y="578293"/>
                    <a:pt x="649111" y="582103"/>
                    <a:pt x="645301" y="583373"/>
                  </a:cubicBezTo>
                  <a:cubicBezTo>
                    <a:pt x="640221" y="587183"/>
                    <a:pt x="628791" y="593533"/>
                    <a:pt x="619901" y="597343"/>
                  </a:cubicBezTo>
                  <a:cubicBezTo>
                    <a:pt x="611011" y="599883"/>
                    <a:pt x="600851" y="601153"/>
                    <a:pt x="591961" y="601153"/>
                  </a:cubicBezTo>
                  <a:cubicBezTo>
                    <a:pt x="581801" y="601153"/>
                    <a:pt x="572911" y="598613"/>
                    <a:pt x="564021" y="596073"/>
                  </a:cubicBezTo>
                  <a:cubicBezTo>
                    <a:pt x="555131" y="592263"/>
                    <a:pt x="542431" y="584643"/>
                    <a:pt x="538621" y="582103"/>
                  </a:cubicBezTo>
                  <a:cubicBezTo>
                    <a:pt x="537351" y="580833"/>
                    <a:pt x="537351" y="580833"/>
                    <a:pt x="536081" y="579563"/>
                  </a:cubicBezTo>
                  <a:cubicBezTo>
                    <a:pt x="531001" y="577023"/>
                    <a:pt x="499251" y="587183"/>
                    <a:pt x="481471" y="580833"/>
                  </a:cubicBezTo>
                  <a:cubicBezTo>
                    <a:pt x="458611" y="571943"/>
                    <a:pt x="426861" y="536383"/>
                    <a:pt x="417971" y="519873"/>
                  </a:cubicBezTo>
                  <a:cubicBezTo>
                    <a:pt x="414161" y="512253"/>
                    <a:pt x="419241" y="503363"/>
                    <a:pt x="414161" y="498283"/>
                  </a:cubicBezTo>
                  <a:cubicBezTo>
                    <a:pt x="407811" y="491933"/>
                    <a:pt x="390031" y="494473"/>
                    <a:pt x="374791" y="491933"/>
                  </a:cubicBezTo>
                  <a:cubicBezTo>
                    <a:pt x="353201" y="488123"/>
                    <a:pt x="318911" y="481773"/>
                    <a:pt x="293511" y="480503"/>
                  </a:cubicBezTo>
                  <a:cubicBezTo>
                    <a:pt x="269381" y="479233"/>
                    <a:pt x="238901" y="488123"/>
                    <a:pt x="226201" y="481773"/>
                  </a:cubicBezTo>
                  <a:cubicBezTo>
                    <a:pt x="217311" y="477963"/>
                    <a:pt x="218581" y="463993"/>
                    <a:pt x="210961" y="461453"/>
                  </a:cubicBezTo>
                  <a:cubicBezTo>
                    <a:pt x="196991" y="457643"/>
                    <a:pt x="141111" y="497013"/>
                    <a:pt x="139841" y="495743"/>
                  </a:cubicBezTo>
                  <a:cubicBezTo>
                    <a:pt x="139841" y="494473"/>
                    <a:pt x="136031" y="498283"/>
                    <a:pt x="136031" y="498283"/>
                  </a:cubicBezTo>
                  <a:cubicBezTo>
                    <a:pt x="136031" y="498283"/>
                    <a:pt x="129681" y="502093"/>
                    <a:pt x="125871" y="503363"/>
                  </a:cubicBezTo>
                  <a:cubicBezTo>
                    <a:pt x="123331" y="504633"/>
                    <a:pt x="116981" y="508443"/>
                    <a:pt x="116981" y="508443"/>
                  </a:cubicBezTo>
                  <a:cubicBezTo>
                    <a:pt x="116981" y="508443"/>
                    <a:pt x="109361" y="509713"/>
                    <a:pt x="106821" y="510983"/>
                  </a:cubicBezTo>
                  <a:cubicBezTo>
                    <a:pt x="103011" y="510983"/>
                    <a:pt x="96661" y="512253"/>
                    <a:pt x="96661" y="512253"/>
                  </a:cubicBezTo>
                  <a:cubicBezTo>
                    <a:pt x="95391" y="512253"/>
                    <a:pt x="89041" y="512253"/>
                    <a:pt x="85231" y="512253"/>
                  </a:cubicBezTo>
                  <a:cubicBezTo>
                    <a:pt x="81421" y="512253"/>
                    <a:pt x="75071" y="512253"/>
                    <a:pt x="75071" y="512253"/>
                  </a:cubicBezTo>
                  <a:cubicBezTo>
                    <a:pt x="75071" y="512253"/>
                    <a:pt x="67451" y="510983"/>
                    <a:pt x="64911" y="509713"/>
                  </a:cubicBezTo>
                  <a:cubicBezTo>
                    <a:pt x="61101" y="508443"/>
                    <a:pt x="54751" y="507173"/>
                    <a:pt x="54751" y="507173"/>
                  </a:cubicBezTo>
                  <a:cubicBezTo>
                    <a:pt x="54751" y="507173"/>
                    <a:pt x="48401" y="503363"/>
                    <a:pt x="44591" y="502093"/>
                  </a:cubicBezTo>
                  <a:cubicBezTo>
                    <a:pt x="42051" y="499553"/>
                    <a:pt x="35701" y="497013"/>
                    <a:pt x="35701" y="497013"/>
                  </a:cubicBezTo>
                  <a:cubicBezTo>
                    <a:pt x="35701" y="495743"/>
                    <a:pt x="30621" y="491933"/>
                    <a:pt x="28081" y="489393"/>
                  </a:cubicBezTo>
                  <a:cubicBezTo>
                    <a:pt x="25541" y="486853"/>
                    <a:pt x="20461" y="481773"/>
                    <a:pt x="20461" y="481773"/>
                  </a:cubicBezTo>
                  <a:cubicBezTo>
                    <a:pt x="20461" y="481773"/>
                    <a:pt x="16651" y="475423"/>
                    <a:pt x="14111" y="472883"/>
                  </a:cubicBezTo>
                  <a:cubicBezTo>
                    <a:pt x="12841" y="470343"/>
                    <a:pt x="9031" y="463993"/>
                    <a:pt x="9031" y="463993"/>
                  </a:cubicBezTo>
                  <a:cubicBezTo>
                    <a:pt x="9031" y="463993"/>
                    <a:pt x="6491" y="457643"/>
                    <a:pt x="5221" y="453833"/>
                  </a:cubicBezTo>
                  <a:cubicBezTo>
                    <a:pt x="3951" y="451293"/>
                    <a:pt x="1411" y="444943"/>
                    <a:pt x="1411" y="443673"/>
                  </a:cubicBezTo>
                  <a:cubicBezTo>
                    <a:pt x="1411" y="443673"/>
                    <a:pt x="1411" y="437323"/>
                    <a:pt x="141" y="433513"/>
                  </a:cubicBezTo>
                  <a:cubicBezTo>
                    <a:pt x="141" y="429703"/>
                    <a:pt x="141" y="423353"/>
                    <a:pt x="141" y="423353"/>
                  </a:cubicBezTo>
                </a:path>
              </a:pathLst>
            </a:custGeom>
            <a:solidFill>
              <a:srgbClr val="010E1E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2838684" y="5697626"/>
            <a:ext cx="2303859" cy="426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6"/>
              </a:lnSpc>
            </a:pPr>
            <a:r>
              <a:rPr lang="en-US" b="true" sz="2188" spc="43">
                <a:solidFill>
                  <a:srgbClr val="1DB8D1">
                    <a:alpha val="84706"/>
                  </a:srgbClr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LOW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42137" y="297145"/>
            <a:ext cx="8116771" cy="1862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75"/>
              </a:lnSpc>
            </a:pPr>
            <a:r>
              <a:rPr lang="en-US" b="true" sz="6426" spc="160">
                <a:solidFill>
                  <a:srgbClr val="FFFFFF">
                    <a:alpha val="84706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EXAMPLE SCENARIOS / USE CASES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9405" y="2085966"/>
            <a:ext cx="6389976" cy="79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Four realistic examples of how SENTINEL AI can reduce common LLM risks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776725"/>
            <a:ext cx="1750048" cy="1519546"/>
          </a:xfrm>
          <a:custGeom>
            <a:avLst/>
            <a:gdLst/>
            <a:ahLst/>
            <a:cxnLst/>
            <a:rect r="r" b="b" t="t" l="l"/>
            <a:pathLst>
              <a:path h="1519546" w="1750048">
                <a:moveTo>
                  <a:pt x="0" y="0"/>
                </a:moveTo>
                <a:lnTo>
                  <a:pt x="1750048" y="0"/>
                </a:lnTo>
                <a:lnTo>
                  <a:pt x="175004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30020" y="3029766"/>
            <a:ext cx="577994" cy="88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4"/>
              </a:lnSpc>
            </a:pPr>
            <a:r>
              <a:rPr lang="en-US" b="true" sz="4724" spc="117">
                <a:solidFill>
                  <a:srgbClr val="0FB0CE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01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384440" y="2569017"/>
            <a:ext cx="4582938" cy="1934962"/>
          </a:xfrm>
          <a:custGeom>
            <a:avLst/>
            <a:gdLst/>
            <a:ahLst/>
            <a:cxnLst/>
            <a:rect r="r" b="b" t="t" l="l"/>
            <a:pathLst>
              <a:path h="1934962" w="4582938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85191" y="3038631"/>
            <a:ext cx="802785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THREAT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65034" y="3341554"/>
            <a:ext cx="2818461" cy="84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8"/>
              </a:lnSpc>
              <a:spcBef>
                <a:spcPct val="0"/>
              </a:spcBef>
            </a:pPr>
            <a:r>
              <a:rPr lang="en-US" b="true" sz="2654" spc="66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Hidden instruction in vendor PDF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6748622" y="3214004"/>
            <a:ext cx="656268" cy="644987"/>
          </a:xfrm>
          <a:custGeom>
            <a:avLst/>
            <a:gdLst/>
            <a:ahLst/>
            <a:cxnLst/>
            <a:rect r="r" b="b" t="t" l="l"/>
            <a:pathLst>
              <a:path h="644987" w="656268">
                <a:moveTo>
                  <a:pt x="0" y="0"/>
                </a:moveTo>
                <a:lnTo>
                  <a:pt x="656268" y="0"/>
                </a:lnTo>
                <a:lnTo>
                  <a:pt x="656268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393952" y="2569017"/>
            <a:ext cx="4582938" cy="1934962"/>
          </a:xfrm>
          <a:custGeom>
            <a:avLst/>
            <a:gdLst/>
            <a:ahLst/>
            <a:cxnLst/>
            <a:rect r="r" b="b" t="t" l="l"/>
            <a:pathLst>
              <a:path h="1934962" w="4582938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998423" y="3038631"/>
            <a:ext cx="1150704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DETECTION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978232" y="3426381"/>
            <a:ext cx="3169787" cy="79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PROMPT INJECTION FLAGGED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747196" y="3214004"/>
            <a:ext cx="885962" cy="644987"/>
          </a:xfrm>
          <a:custGeom>
            <a:avLst/>
            <a:gdLst/>
            <a:ahLst/>
            <a:cxnLst/>
            <a:rect r="r" b="b" t="t" l="l"/>
            <a:pathLst>
              <a:path h="644987" w="885962">
                <a:moveTo>
                  <a:pt x="0" y="0"/>
                </a:moveTo>
                <a:lnTo>
                  <a:pt x="885962" y="0"/>
                </a:lnTo>
                <a:lnTo>
                  <a:pt x="885962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22220" y="2569017"/>
            <a:ext cx="4801694" cy="1934962"/>
          </a:xfrm>
          <a:custGeom>
            <a:avLst/>
            <a:gdLst/>
            <a:ahLst/>
            <a:cxnLst/>
            <a:rect r="r" b="b" t="t" l="l"/>
            <a:pathLst>
              <a:path h="1934962" w="4801694">
                <a:moveTo>
                  <a:pt x="0" y="0"/>
                </a:moveTo>
                <a:lnTo>
                  <a:pt x="4801694" y="0"/>
                </a:lnTo>
                <a:lnTo>
                  <a:pt x="4801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139493" y="3238920"/>
            <a:ext cx="2579356" cy="113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UNSAFE INSTRUCTION BLOCKED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645330" y="4493047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75765" y="4746702"/>
            <a:ext cx="686504" cy="88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4"/>
              </a:lnSpc>
            </a:pPr>
            <a:r>
              <a:rPr lang="en-US" b="true" sz="4724" spc="117">
                <a:solidFill>
                  <a:srgbClr val="0FB0CE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02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2384440" y="4285339"/>
            <a:ext cx="4582938" cy="1934962"/>
          </a:xfrm>
          <a:custGeom>
            <a:avLst/>
            <a:gdLst/>
            <a:ahLst/>
            <a:cxnLst/>
            <a:rect r="r" b="b" t="t" l="l"/>
            <a:pathLst>
              <a:path h="1934962" w="4582938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885191" y="4672443"/>
            <a:ext cx="802785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THREAT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875610" y="4917702"/>
            <a:ext cx="3045418" cy="113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Customer asks for another user’s account data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6748622" y="4919394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393952" y="4285339"/>
            <a:ext cx="4582938" cy="1934962"/>
          </a:xfrm>
          <a:custGeom>
            <a:avLst/>
            <a:gdLst/>
            <a:ahLst/>
            <a:cxnLst/>
            <a:rect r="r" b="b" t="t" l="l"/>
            <a:pathLst>
              <a:path h="1934962" w="4582938">
                <a:moveTo>
                  <a:pt x="0" y="0"/>
                </a:moveTo>
                <a:lnTo>
                  <a:pt x="4582938" y="0"/>
                </a:lnTo>
                <a:lnTo>
                  <a:pt x="458293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998423" y="4606218"/>
            <a:ext cx="1150704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DETECTION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84931" y="4853003"/>
            <a:ext cx="2499883" cy="120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8"/>
              </a:lnSpc>
              <a:spcBef>
                <a:spcPct val="0"/>
              </a:spcBef>
            </a:pPr>
            <a:r>
              <a:rPr lang="en-US" b="true" sz="2654" spc="66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PERSONAL DATA REQUEST DETECTED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1747196" y="4919394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2622220" y="4285339"/>
            <a:ext cx="4801694" cy="1934962"/>
          </a:xfrm>
          <a:custGeom>
            <a:avLst/>
            <a:gdLst/>
            <a:ahLst/>
            <a:cxnLst/>
            <a:rect r="r" b="b" t="t" l="l"/>
            <a:pathLst>
              <a:path h="1934962" w="4801694">
                <a:moveTo>
                  <a:pt x="0" y="0"/>
                </a:moveTo>
                <a:lnTo>
                  <a:pt x="4801694" y="0"/>
                </a:lnTo>
                <a:lnTo>
                  <a:pt x="480169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3137983" y="5143316"/>
            <a:ext cx="1544639" cy="79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DATA WITHHELD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645330" y="6209369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078217" y="6463638"/>
            <a:ext cx="681600" cy="88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4"/>
              </a:lnSpc>
            </a:pPr>
            <a:r>
              <a:rPr lang="en-US" b="true" sz="4724" spc="117">
                <a:solidFill>
                  <a:srgbClr val="0FB0CE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03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2384440" y="5990729"/>
            <a:ext cx="4582938" cy="1945894"/>
          </a:xfrm>
          <a:custGeom>
            <a:avLst/>
            <a:gdLst/>
            <a:ahLst/>
            <a:cxnLst/>
            <a:rect r="r" b="b" t="t" l="l"/>
            <a:pathLst>
              <a:path h="1945894" w="4582938">
                <a:moveTo>
                  <a:pt x="0" y="0"/>
                </a:moveTo>
                <a:lnTo>
                  <a:pt x="4582938" y="0"/>
                </a:lnTo>
                <a:lnTo>
                  <a:pt x="458293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2885191" y="6406342"/>
            <a:ext cx="802785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THREAT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866986" y="6610826"/>
            <a:ext cx="2623293" cy="120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8"/>
              </a:lnSpc>
              <a:spcBef>
                <a:spcPct val="0"/>
              </a:spcBef>
            </a:pPr>
            <a:r>
              <a:rPr lang="en-US" b="true" sz="2654" spc="66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Employee asks for hidden system instructions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6748622" y="6635716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7393952" y="5990729"/>
            <a:ext cx="4582938" cy="1945894"/>
          </a:xfrm>
          <a:custGeom>
            <a:avLst/>
            <a:gdLst/>
            <a:ahLst/>
            <a:cxnLst/>
            <a:rect r="r" b="b" t="t" l="l"/>
            <a:pathLst>
              <a:path h="1945894" w="4582938">
                <a:moveTo>
                  <a:pt x="0" y="0"/>
                </a:moveTo>
                <a:lnTo>
                  <a:pt x="4582938" y="0"/>
                </a:lnTo>
                <a:lnTo>
                  <a:pt x="458293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7998423" y="6406342"/>
            <a:ext cx="1150704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DETECTION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988544" y="6661126"/>
            <a:ext cx="2138592" cy="11353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EXTRACTION ATTEMPT FLAGGED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11747196" y="6635716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2622220" y="5990729"/>
            <a:ext cx="4801694" cy="1945894"/>
          </a:xfrm>
          <a:custGeom>
            <a:avLst/>
            <a:gdLst/>
            <a:ahLst/>
            <a:cxnLst/>
            <a:rect r="r" b="b" t="t" l="l"/>
            <a:pathLst>
              <a:path h="1945894" w="4801694">
                <a:moveTo>
                  <a:pt x="0" y="0"/>
                </a:moveTo>
                <a:lnTo>
                  <a:pt x="4801694" y="0"/>
                </a:lnTo>
                <a:lnTo>
                  <a:pt x="480169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13136002" y="6875313"/>
            <a:ext cx="1742762" cy="79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BLOCKED / REVIEWED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645330" y="7925691"/>
            <a:ext cx="1750048" cy="1508614"/>
          </a:xfrm>
          <a:custGeom>
            <a:avLst/>
            <a:gdLst/>
            <a:ahLst/>
            <a:cxnLst/>
            <a:rect r="r" b="b" t="t" l="l"/>
            <a:pathLst>
              <a:path h="1508614" w="1750048">
                <a:moveTo>
                  <a:pt x="0" y="0"/>
                </a:moveTo>
                <a:lnTo>
                  <a:pt x="1750048" y="0"/>
                </a:lnTo>
                <a:lnTo>
                  <a:pt x="175004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1073619" y="8210695"/>
            <a:ext cx="690796" cy="883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4"/>
              </a:lnSpc>
            </a:pPr>
            <a:r>
              <a:rPr lang="en-US" b="true" sz="4724" spc="117">
                <a:solidFill>
                  <a:srgbClr val="0FB0CE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04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2384440" y="7925691"/>
            <a:ext cx="4582938" cy="1727254"/>
          </a:xfrm>
          <a:custGeom>
            <a:avLst/>
            <a:gdLst/>
            <a:ahLst/>
            <a:cxnLst/>
            <a:rect r="r" b="b" t="t" l="l"/>
            <a:pathLst>
              <a:path h="1727254" w="4582938">
                <a:moveTo>
                  <a:pt x="0" y="0"/>
                </a:moveTo>
                <a:lnTo>
                  <a:pt x="4582938" y="0"/>
                </a:lnTo>
                <a:lnTo>
                  <a:pt x="458293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2885191" y="8098548"/>
            <a:ext cx="802785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THREAT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872975" y="8334282"/>
            <a:ext cx="2024373" cy="120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8"/>
              </a:lnSpc>
              <a:spcBef>
                <a:spcPct val="0"/>
              </a:spcBef>
            </a:pPr>
            <a:r>
              <a:rPr lang="en-US" b="true" sz="2654" spc="66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High-risk health question</a:t>
            </a:r>
          </a:p>
        </p:txBody>
      </p:sp>
      <p:sp>
        <p:nvSpPr>
          <p:cNvPr name="Freeform 46" id="46"/>
          <p:cNvSpPr/>
          <p:nvPr/>
        </p:nvSpPr>
        <p:spPr>
          <a:xfrm flipH="false" flipV="false" rot="0">
            <a:off x="6748622" y="8352038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393952" y="7925691"/>
            <a:ext cx="4582938" cy="1727254"/>
          </a:xfrm>
          <a:custGeom>
            <a:avLst/>
            <a:gdLst/>
            <a:ahLst/>
            <a:cxnLst/>
            <a:rect r="r" b="b" t="t" l="l"/>
            <a:pathLst>
              <a:path h="1727254" w="4582938">
                <a:moveTo>
                  <a:pt x="0" y="0"/>
                </a:moveTo>
                <a:lnTo>
                  <a:pt x="4582938" y="0"/>
                </a:lnTo>
                <a:lnTo>
                  <a:pt x="458293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7979752" y="8577188"/>
            <a:ext cx="3017744" cy="796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8"/>
              </a:lnSpc>
              <a:spcBef>
                <a:spcPct val="0"/>
              </a:spcBef>
            </a:pPr>
            <a:r>
              <a:rPr lang="en-US" b="true" sz="2526" spc="62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OUTPUT CHECKED FOR SAFETY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1747196" y="8352038"/>
            <a:ext cx="885962" cy="655919"/>
          </a:xfrm>
          <a:custGeom>
            <a:avLst/>
            <a:gdLst/>
            <a:ahLst/>
            <a:cxnLst/>
            <a:rect r="r" b="b" t="t" l="l"/>
            <a:pathLst>
              <a:path h="655919" w="885962">
                <a:moveTo>
                  <a:pt x="0" y="0"/>
                </a:moveTo>
                <a:lnTo>
                  <a:pt x="885962" y="0"/>
                </a:lnTo>
                <a:lnTo>
                  <a:pt x="88596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2622220" y="7925691"/>
            <a:ext cx="4801694" cy="1727254"/>
          </a:xfrm>
          <a:custGeom>
            <a:avLst/>
            <a:gdLst/>
            <a:ahLst/>
            <a:cxnLst/>
            <a:rect r="r" b="b" t="t" l="l"/>
            <a:pathLst>
              <a:path h="1727254" w="4801694">
                <a:moveTo>
                  <a:pt x="0" y="0"/>
                </a:moveTo>
                <a:lnTo>
                  <a:pt x="4801694" y="0"/>
                </a:lnTo>
                <a:lnTo>
                  <a:pt x="4801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3131436" y="8370502"/>
            <a:ext cx="2199394" cy="1200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18"/>
              </a:lnSpc>
              <a:spcBef>
                <a:spcPct val="0"/>
              </a:spcBef>
            </a:pPr>
            <a:r>
              <a:rPr lang="en-US" b="true" sz="2654" spc="66" strike="noStrike" u="none">
                <a:solidFill>
                  <a:srgbClr val="FFFFFF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SAFER REPLY + EXPERT REFERRAL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998423" y="8204499"/>
            <a:ext cx="1150704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DETECTION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142219" y="2981837"/>
            <a:ext cx="1121031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RESPONSE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142219" y="4740506"/>
            <a:ext cx="1121031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RESPONSE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142219" y="6472503"/>
            <a:ext cx="1121031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RESPONSE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3142219" y="8157971"/>
            <a:ext cx="1121031" cy="321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1"/>
              </a:lnSpc>
            </a:pPr>
            <a:r>
              <a:rPr lang="en-US" b="true" sz="1784" spc="44">
                <a:solidFill>
                  <a:srgbClr val="0FB0CE"/>
                </a:solidFill>
                <a:latin typeface="Karnchang SemiCondensed Semi-Bold"/>
                <a:ea typeface="Karnchang SemiCondensed Semi-Bold"/>
                <a:cs typeface="Karnchang SemiCondensed Semi-Bold"/>
                <a:sym typeface="Karnchang SemiCondensed Semi-Bold"/>
              </a:rPr>
              <a:t>RESPONSE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2644" y="420579"/>
            <a:ext cx="7534004" cy="132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2"/>
              </a:lnSpc>
            </a:pPr>
            <a:r>
              <a:rPr lang="en-US" b="true" sz="7332" spc="218">
                <a:solidFill>
                  <a:srgbClr val="F8F8F8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IMPLEMENTATION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6118" y="1429655"/>
            <a:ext cx="5186679" cy="1323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2"/>
              </a:lnSpc>
            </a:pPr>
            <a:r>
              <a:rPr lang="en-US" b="true" sz="7332" spc="218">
                <a:solidFill>
                  <a:srgbClr val="F8F8F8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AND </a:t>
            </a:r>
            <a:r>
              <a:rPr lang="en-US" b="true" sz="7332" spc="218">
                <a:solidFill>
                  <a:srgbClr val="05D3F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IMPACT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82842" y="2995365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27139" y="3403144"/>
            <a:ext cx="1932774" cy="873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74"/>
              </a:lnSpc>
            </a:pPr>
            <a:r>
              <a:rPr lang="en-US" b="true" sz="2478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APPLICATION/</a:t>
            </a:r>
          </a:p>
          <a:p>
            <a:pPr algn="ctr">
              <a:lnSpc>
                <a:spcPts val="2974"/>
              </a:lnSpc>
            </a:pPr>
            <a:r>
              <a:rPr lang="en-US" b="true" sz="2478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API GATEWAY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779818" y="2776725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06174" y="3201817"/>
            <a:ext cx="1050232" cy="863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2"/>
              </a:lnSpc>
            </a:pPr>
            <a:r>
              <a:rPr lang="en-US" b="true" sz="2526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POLICY</a:t>
            </a:r>
          </a:p>
          <a:p>
            <a:pPr algn="ctr">
              <a:lnSpc>
                <a:spcPts val="3032"/>
              </a:lnSpc>
            </a:pPr>
            <a:r>
              <a:rPr lang="en-US" b="true" sz="2526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ENGINE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050220" y="2995365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15661" y="3412670"/>
            <a:ext cx="1689257" cy="8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THREAT</a:t>
            </a:r>
          </a:p>
          <a:p>
            <a:pPr algn="ctr">
              <a:lnSpc>
                <a:spcPts val="3090"/>
              </a:lnSpc>
            </a:pPr>
            <a:r>
              <a:rPr lang="en-US" b="true" sz="2575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DETECTORS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998574" y="4919394"/>
            <a:ext cx="2187560" cy="2590881"/>
          </a:xfrm>
          <a:custGeom>
            <a:avLst/>
            <a:gdLst/>
            <a:ahLst/>
            <a:cxnLst/>
            <a:rect r="r" b="b" t="t" l="l"/>
            <a:pathLst>
              <a:path h="2590881" w="2187560">
                <a:moveTo>
                  <a:pt x="0" y="0"/>
                </a:moveTo>
                <a:lnTo>
                  <a:pt x="2187560" y="0"/>
                </a:lnTo>
                <a:lnTo>
                  <a:pt x="2187560" y="2590881"/>
                </a:lnTo>
                <a:lnTo>
                  <a:pt x="0" y="25908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384440" y="4493047"/>
            <a:ext cx="2843828" cy="1727254"/>
          </a:xfrm>
          <a:custGeom>
            <a:avLst/>
            <a:gdLst/>
            <a:ahLst/>
            <a:cxnLst/>
            <a:rect r="r" b="b" t="t" l="l"/>
            <a:pathLst>
              <a:path h="1727254" w="2843828">
                <a:moveTo>
                  <a:pt x="0" y="0"/>
                </a:moveTo>
                <a:lnTo>
                  <a:pt x="2843828" y="0"/>
                </a:lnTo>
                <a:lnTo>
                  <a:pt x="2843828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821952" y="6428009"/>
            <a:ext cx="2406316" cy="1082267"/>
          </a:xfrm>
          <a:custGeom>
            <a:avLst/>
            <a:gdLst/>
            <a:ahLst/>
            <a:cxnLst/>
            <a:rect r="r" b="b" t="t" l="l"/>
            <a:pathLst>
              <a:path h="1082267" w="2406316">
                <a:moveTo>
                  <a:pt x="0" y="0"/>
                </a:moveTo>
                <a:lnTo>
                  <a:pt x="2406316" y="0"/>
                </a:lnTo>
                <a:lnTo>
                  <a:pt x="240631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956440" y="4493047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956440" y="6428009"/>
            <a:ext cx="2187560" cy="1082267"/>
          </a:xfrm>
          <a:custGeom>
            <a:avLst/>
            <a:gdLst/>
            <a:ahLst/>
            <a:cxnLst/>
            <a:rect r="r" b="b" t="t" l="l"/>
            <a:pathLst>
              <a:path h="1082267" w="2187560">
                <a:moveTo>
                  <a:pt x="0" y="0"/>
                </a:moveTo>
                <a:lnTo>
                  <a:pt x="2187560" y="0"/>
                </a:lnTo>
                <a:lnTo>
                  <a:pt x="218756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20354" y="7499343"/>
            <a:ext cx="3051646" cy="1508614"/>
          </a:xfrm>
          <a:custGeom>
            <a:avLst/>
            <a:gdLst/>
            <a:ahLst/>
            <a:cxnLst/>
            <a:rect r="r" b="b" t="t" l="l"/>
            <a:pathLst>
              <a:path h="1508614" w="3051646">
                <a:moveTo>
                  <a:pt x="0" y="0"/>
                </a:moveTo>
                <a:lnTo>
                  <a:pt x="3051646" y="0"/>
                </a:lnTo>
                <a:lnTo>
                  <a:pt x="305164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146765" y="7765253"/>
            <a:ext cx="1765084" cy="8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MODEL</a:t>
            </a:r>
          </a:p>
          <a:p>
            <a:pPr algn="ctr">
              <a:lnSpc>
                <a:spcPts val="3090"/>
              </a:lnSpc>
            </a:pPr>
            <a:r>
              <a:rPr lang="en-US" b="true" sz="2575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CONNECTOR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7612708" y="7499343"/>
            <a:ext cx="3062584" cy="1508614"/>
          </a:xfrm>
          <a:custGeom>
            <a:avLst/>
            <a:gdLst/>
            <a:ahLst/>
            <a:cxnLst/>
            <a:rect r="r" b="b" t="t" l="l"/>
            <a:pathLst>
              <a:path h="1508614" w="3062584">
                <a:moveTo>
                  <a:pt x="0" y="0"/>
                </a:moveTo>
                <a:lnTo>
                  <a:pt x="3062584" y="0"/>
                </a:lnTo>
                <a:lnTo>
                  <a:pt x="306258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073653" y="7765253"/>
            <a:ext cx="1963172" cy="8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0"/>
              </a:lnSpc>
            </a:pPr>
            <a:r>
              <a:rPr lang="en-US" b="true" sz="2575">
                <a:solidFill>
                  <a:srgbClr val="FFFFFF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AUDIT LOGS &amp; DASHBOARD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528440" y="2350377"/>
            <a:ext cx="6114230" cy="6438940"/>
          </a:xfrm>
          <a:custGeom>
            <a:avLst/>
            <a:gdLst/>
            <a:ahLst/>
            <a:cxnLst/>
            <a:rect r="r" b="b" t="t" l="l"/>
            <a:pathLst>
              <a:path h="6438940" w="6114230">
                <a:moveTo>
                  <a:pt x="0" y="0"/>
                </a:moveTo>
                <a:lnTo>
                  <a:pt x="6114230" y="0"/>
                </a:lnTo>
                <a:lnTo>
                  <a:pt x="6114230" y="6438941"/>
                </a:lnTo>
                <a:lnTo>
                  <a:pt x="0" y="643894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246730" y="2971916"/>
            <a:ext cx="4944937" cy="95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b="true" sz="2759" strike="noStrike" u="none">
                <a:solidFill>
                  <a:srgbClr val="05D3F7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PRACTICAL VALUE IN REAL WORKFLOWS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52425" y="3929672"/>
            <a:ext cx="4375477" cy="95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8"/>
              </a:lnSpc>
              <a:spcBef>
                <a:spcPct val="0"/>
              </a:spcBef>
            </a:pPr>
            <a:r>
              <a:rPr lang="en-US" sz="2781" strike="noStrike" u="none">
                <a:solidFill>
                  <a:srgbClr val="FFFFFF"/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Reduces exposure of sensitive data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184708" y="4711687"/>
            <a:ext cx="4801694" cy="218640"/>
          </a:xfrm>
          <a:custGeom>
            <a:avLst/>
            <a:gdLst/>
            <a:ahLst/>
            <a:cxnLst/>
            <a:rect r="r" b="b" t="t" l="l"/>
            <a:pathLst>
              <a:path h="218640" w="4801694">
                <a:moveTo>
                  <a:pt x="0" y="0"/>
                </a:moveTo>
                <a:lnTo>
                  <a:pt x="4801694" y="0"/>
                </a:lnTo>
                <a:lnTo>
                  <a:pt x="480169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2259869" y="5044174"/>
            <a:ext cx="3631056" cy="954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70"/>
              </a:lnSpc>
              <a:spcBef>
                <a:spcPct val="0"/>
              </a:spcBef>
            </a:pPr>
            <a:r>
              <a:rPr lang="en-US" sz="2724" strike="noStrike" u="none">
                <a:solidFill>
                  <a:srgbClr val="FFFFFF"/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Flags prompt injection before model use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184708" y="5783021"/>
            <a:ext cx="4801694" cy="218640"/>
          </a:xfrm>
          <a:custGeom>
            <a:avLst/>
            <a:gdLst/>
            <a:ahLst/>
            <a:cxnLst/>
            <a:rect r="r" b="b" t="t" l="l"/>
            <a:pathLst>
              <a:path h="218640" w="4801694">
                <a:moveTo>
                  <a:pt x="0" y="0"/>
                </a:moveTo>
                <a:lnTo>
                  <a:pt x="4801694" y="0"/>
                </a:lnTo>
                <a:lnTo>
                  <a:pt x="480169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259349" y="6188798"/>
            <a:ext cx="3683036" cy="95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8"/>
              </a:lnSpc>
              <a:spcBef>
                <a:spcPct val="0"/>
              </a:spcBef>
            </a:pPr>
            <a:r>
              <a:rPr lang="en-US" sz="2781" strike="noStrike" u="none">
                <a:solidFill>
                  <a:srgbClr val="FFFFFF"/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Creates reviewable security logs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2184708" y="7062064"/>
            <a:ext cx="4801694" cy="229572"/>
          </a:xfrm>
          <a:custGeom>
            <a:avLst/>
            <a:gdLst/>
            <a:ahLst/>
            <a:cxnLst/>
            <a:rect r="r" b="b" t="t" l="l"/>
            <a:pathLst>
              <a:path h="229572" w="4801694">
                <a:moveTo>
                  <a:pt x="0" y="0"/>
                </a:moveTo>
                <a:lnTo>
                  <a:pt x="4801694" y="0"/>
                </a:lnTo>
                <a:lnTo>
                  <a:pt x="4801694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2256234" y="7318361"/>
            <a:ext cx="3994540" cy="954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38"/>
              </a:lnSpc>
              <a:spcBef>
                <a:spcPct val="0"/>
              </a:spcBef>
            </a:pPr>
            <a:r>
              <a:rPr lang="en-US" sz="2781" strike="noStrike" u="none">
                <a:solidFill>
                  <a:srgbClr val="FFFFFF"/>
                </a:solidFill>
                <a:latin typeface="Karnchang SemiCondensed"/>
                <a:ea typeface="Karnchang SemiCondensed"/>
                <a:cs typeface="Karnchang SemiCondensed"/>
                <a:sym typeface="Karnchang SemiCondensed"/>
              </a:rPr>
              <a:t>Fits behind existing AI apps and APIs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36086" y="7499343"/>
            <a:ext cx="12851914" cy="2787657"/>
          </a:xfrm>
          <a:custGeom>
            <a:avLst/>
            <a:gdLst/>
            <a:ahLst/>
            <a:cxnLst/>
            <a:rect r="r" b="b" t="t" l="l"/>
            <a:pathLst>
              <a:path h="2787657" w="12851914">
                <a:moveTo>
                  <a:pt x="0" y="0"/>
                </a:moveTo>
                <a:lnTo>
                  <a:pt x="12851914" y="0"/>
                </a:lnTo>
                <a:lnTo>
                  <a:pt x="12851914" y="2787657"/>
                </a:lnTo>
                <a:lnTo>
                  <a:pt x="0" y="2787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528440" y="1071335"/>
            <a:ext cx="5239206" cy="7072996"/>
          </a:xfrm>
          <a:custGeom>
            <a:avLst/>
            <a:gdLst/>
            <a:ahLst/>
            <a:cxnLst/>
            <a:rect r="r" b="b" t="t" l="l"/>
            <a:pathLst>
              <a:path h="7072996" w="5239206">
                <a:moveTo>
                  <a:pt x="0" y="0"/>
                </a:moveTo>
                <a:lnTo>
                  <a:pt x="5239206" y="0"/>
                </a:lnTo>
                <a:lnTo>
                  <a:pt x="5239206" y="7072995"/>
                </a:lnTo>
                <a:lnTo>
                  <a:pt x="0" y="70729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00812" y="2967689"/>
            <a:ext cx="8000363" cy="2366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87"/>
              </a:lnSpc>
            </a:pPr>
            <a:r>
              <a:rPr lang="en-US" b="true" sz="13187" spc="-128">
                <a:solidFill>
                  <a:srgbClr val="FFFFFF">
                    <a:alpha val="89804"/>
                  </a:srgbClr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THANK YOU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945151" y="9309710"/>
            <a:ext cx="6397698" cy="977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5"/>
              </a:lnSpc>
            </a:pPr>
            <a:r>
              <a:rPr lang="en-US" b="true" sz="5365" spc="-52">
                <a:solidFill>
                  <a:srgbClr val="03C1E8"/>
                </a:solidFill>
                <a:latin typeface="Karnchang SemiCondensed Bold"/>
                <a:ea typeface="Karnchang SemiCondensed Bold"/>
                <a:cs typeface="Karnchang SemiCondensed Bold"/>
                <a:sym typeface="Karnchang SemiCondensed Bold"/>
              </a:rPr>
              <a:t>BRAINWAVE CODERS</a:t>
            </a:r>
          </a:p>
        </p:txBody>
      </p:sp>
    </p:spTree>
  </p:cSld>
  <p:clrMapOvr>
    <a:masterClrMapping/>
  </p:clrMapOvr>
  <p:transition spd="slow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DAHXe0jR0ww</dc:identifier>
  <dcterms:modified xsi:type="dcterms:W3CDTF">2011-08-01T06:04:30Z</dcterms:modified>
  <cp:revision>1</cp:revision>
  <dc:title>Sentinel AI Firewall</dc:title>
</cp:coreProperties>
</file>